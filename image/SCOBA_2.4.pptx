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  <p:sldMasterId id="2147483652" r:id="rId3"/>
    <p:sldMasterId id="2147483654" r:id="rId4"/>
    <p:sldMasterId id="2147483656" r:id="rId5"/>
  </p:sldMasterIdLst>
  <p:notesMasterIdLst>
    <p:notesMasterId r:id="rId30"/>
  </p:notesMasterIdLst>
  <p:handoutMasterIdLst>
    <p:handoutMasterId r:id="rId31"/>
  </p:handoutMasterIdLst>
  <p:sldIdLst>
    <p:sldId id="256" r:id="rId6"/>
    <p:sldId id="265" r:id="rId7"/>
    <p:sldId id="266" r:id="rId8"/>
    <p:sldId id="299" r:id="rId9"/>
    <p:sldId id="262" r:id="rId10"/>
    <p:sldId id="260" r:id="rId11"/>
    <p:sldId id="300" r:id="rId12"/>
    <p:sldId id="301" r:id="rId13"/>
    <p:sldId id="268" r:id="rId14"/>
    <p:sldId id="290" r:id="rId15"/>
    <p:sldId id="291" r:id="rId16"/>
    <p:sldId id="292" r:id="rId17"/>
    <p:sldId id="293" r:id="rId18"/>
    <p:sldId id="302" r:id="rId19"/>
    <p:sldId id="303" r:id="rId20"/>
    <p:sldId id="304" r:id="rId21"/>
    <p:sldId id="305" r:id="rId22"/>
    <p:sldId id="306" r:id="rId23"/>
    <p:sldId id="295" r:id="rId24"/>
    <p:sldId id="296" r:id="rId25"/>
    <p:sldId id="297" r:id="rId26"/>
    <p:sldId id="298" r:id="rId27"/>
    <p:sldId id="307" r:id="rId28"/>
    <p:sldId id="261" r:id="rId29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C606E33E-643D-4965-A2BD-892ADF57FC34}">
          <p14:sldIdLst>
            <p14:sldId id="256"/>
            <p14:sldId id="265"/>
            <p14:sldId id="266"/>
            <p14:sldId id="299"/>
            <p14:sldId id="262"/>
            <p14:sldId id="260"/>
            <p14:sldId id="300"/>
            <p14:sldId id="301"/>
            <p14:sldId id="268"/>
            <p14:sldId id="290"/>
            <p14:sldId id="291"/>
            <p14:sldId id="292"/>
            <p14:sldId id="293"/>
            <p14:sldId id="302"/>
            <p14:sldId id="303"/>
            <p14:sldId id="304"/>
            <p14:sldId id="305"/>
            <p14:sldId id="306"/>
            <p14:sldId id="295"/>
            <p14:sldId id="296"/>
            <p14:sldId id="297"/>
            <p14:sldId id="298"/>
            <p14:sldId id="307"/>
            <p14:sldId id="2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9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26" y="1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200" d="100"/>
          <a:sy n="200" d="100"/>
        </p:scale>
        <p:origin x="492" y="-169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5CF436-09D8-4A09-AE14-9FA22E2F37F1}" type="datetimeFigureOut">
              <a:rPr lang="ko-KR" altLang="en-US" smtClean="0"/>
              <a:t>2017-06-13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BAA209-1853-477A-9A88-C364F8A055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63756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86F94C-09A2-411B-B4AD-E4D92093DBB9}" type="datetimeFigureOut">
              <a:rPr lang="ko-KR" altLang="en-US" smtClean="0"/>
              <a:t>2017-06-13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D23134-EB42-4580-A92E-D69DA5CE03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689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D23134-EB42-4580-A92E-D69DA5CE038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285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D23134-EB42-4580-A92E-D69DA5CE038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3815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문서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472870" y="2906688"/>
            <a:ext cx="8203586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 userDrawn="1"/>
        </p:nvSpPr>
        <p:spPr>
          <a:xfrm>
            <a:off x="471317" y="6251390"/>
            <a:ext cx="45719" cy="338554"/>
          </a:xfrm>
          <a:prstGeom prst="rect">
            <a:avLst/>
          </a:prstGeom>
          <a:solidFill>
            <a:srgbClr val="CC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제목 1"/>
          <p:cNvSpPr>
            <a:spLocks noGrp="1"/>
          </p:cNvSpPr>
          <p:nvPr>
            <p:ph type="title" hasCustomPrompt="1"/>
          </p:nvPr>
        </p:nvSpPr>
        <p:spPr>
          <a:xfrm>
            <a:off x="430290" y="2996952"/>
            <a:ext cx="8229600" cy="360040"/>
          </a:xfrm>
          <a:prstGeom prst="rect">
            <a:avLst/>
          </a:prstGeom>
        </p:spPr>
        <p:txBody>
          <a:bodyPr/>
          <a:lstStyle>
            <a:lvl1pPr algn="l"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r>
              <a:rPr lang="en-US" altLang="ko-KR" dirty="0" smtClean="0"/>
              <a:t>Proposal Title</a:t>
            </a:r>
            <a:endParaRPr lang="ko-KR" altLang="en-US" dirty="0"/>
          </a:p>
        </p:txBody>
      </p:sp>
      <p:sp>
        <p:nvSpPr>
          <p:cNvPr id="25" name="텍스트 개체 틀 24"/>
          <p:cNvSpPr>
            <a:spLocks noGrp="1"/>
          </p:cNvSpPr>
          <p:nvPr>
            <p:ph type="body" sz="quarter" idx="11" hasCustomPrompt="1"/>
          </p:nvPr>
        </p:nvSpPr>
        <p:spPr>
          <a:xfrm>
            <a:off x="7452320" y="6308576"/>
            <a:ext cx="1224161" cy="36078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 b="1">
                <a:solidFill>
                  <a:srgbClr val="CC00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 smtClean="0"/>
              <a:t>2016.03.03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98252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/>
          <p:cNvSpPr>
            <a:spLocks noGrp="1"/>
          </p:cNvSpPr>
          <p:nvPr>
            <p:ph type="body" sz="quarter" idx="13" hasCustomPrompt="1"/>
          </p:nvPr>
        </p:nvSpPr>
        <p:spPr>
          <a:xfrm>
            <a:off x="4689256" y="2302185"/>
            <a:ext cx="4320000" cy="431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r>
              <a:rPr lang="en-US" altLang="ko-KR" dirty="0" smtClean="0"/>
              <a:t>Subject 1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5" hasCustomPrompt="1"/>
          </p:nvPr>
        </p:nvSpPr>
        <p:spPr>
          <a:xfrm>
            <a:off x="4685732" y="2790342"/>
            <a:ext cx="4320000" cy="432000"/>
          </a:xfrm>
          <a:prstGeom prst="rect">
            <a:avLst/>
          </a:prstGeom>
        </p:spPr>
        <p:txBody>
          <a:bodyPr/>
          <a:lstStyle>
            <a:lvl1pPr>
              <a:defRPr lang="ko-KR" altLang="en-US" sz="20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marL="0" lvl="0" indent="0">
              <a:buNone/>
            </a:pPr>
            <a:r>
              <a:rPr lang="en-US" altLang="ko-KR" dirty="0" smtClean="0"/>
              <a:t>Subject 2</a:t>
            </a:r>
            <a:endParaRPr lang="ko-KR" altLang="en-US" dirty="0"/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27" hasCustomPrompt="1"/>
          </p:nvPr>
        </p:nvSpPr>
        <p:spPr>
          <a:xfrm>
            <a:off x="373516" y="1005792"/>
            <a:ext cx="6841008" cy="2872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r>
              <a:rPr lang="en-US" altLang="ko-KR" dirty="0" smtClean="0"/>
              <a:t>Project Title</a:t>
            </a:r>
            <a:endParaRPr lang="ko-KR" altLang="en-US" dirty="0"/>
          </a:p>
        </p:txBody>
      </p:sp>
      <p:sp>
        <p:nvSpPr>
          <p:cNvPr id="28" name="텍스트 개체 틀 11"/>
          <p:cNvSpPr>
            <a:spLocks noGrp="1"/>
          </p:cNvSpPr>
          <p:nvPr>
            <p:ph type="body" sz="quarter" idx="28" hasCustomPrompt="1"/>
          </p:nvPr>
        </p:nvSpPr>
        <p:spPr>
          <a:xfrm>
            <a:off x="4676666" y="3287706"/>
            <a:ext cx="4320000" cy="432000"/>
          </a:xfrm>
          <a:prstGeom prst="rect">
            <a:avLst/>
          </a:prstGeom>
        </p:spPr>
        <p:txBody>
          <a:bodyPr/>
          <a:lstStyle>
            <a:lvl1pPr>
              <a:defRPr lang="ko-KR" altLang="en-US" sz="20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marL="0" lvl="0" indent="0">
              <a:buNone/>
            </a:pPr>
            <a:r>
              <a:rPr lang="en-US" altLang="ko-KR" dirty="0" smtClean="0"/>
              <a:t>Subject 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82583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402228" y="1020078"/>
            <a:ext cx="4895775" cy="2153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aseline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r>
              <a:rPr lang="en-US" altLang="ko-KR" dirty="0" smtClean="0"/>
              <a:t>Proposal Title</a:t>
            </a:r>
            <a:endParaRPr lang="ko-KR" altLang="en-US" dirty="0"/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1" hasCustomPrompt="1"/>
          </p:nvPr>
        </p:nvSpPr>
        <p:spPr>
          <a:xfrm>
            <a:off x="4866724" y="3112504"/>
            <a:ext cx="2880617" cy="431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r>
              <a:rPr lang="en-US" altLang="ko-KR" dirty="0" smtClean="0"/>
              <a:t>Subject 1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2" hasCustomPrompt="1"/>
          </p:nvPr>
        </p:nvSpPr>
        <p:spPr>
          <a:xfrm>
            <a:off x="4344545" y="3119196"/>
            <a:ext cx="576609" cy="5032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 smtClean="0"/>
              <a:t>01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66637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338608" y="393778"/>
            <a:ext cx="6769100" cy="432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r>
              <a:rPr lang="en-US" altLang="ko-KR" dirty="0" smtClean="0"/>
              <a:t>1. Subject</a:t>
            </a: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923718" y="6259084"/>
            <a:ext cx="755104" cy="365125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rgbClr val="CC00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D4E50C4-0A3E-495D-9A95-CA3D2D0EF038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13" name="텍스트 개체 틀 12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8" y="1052512"/>
            <a:ext cx="8353176" cy="43927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HY울릉도M" panose="02030600000101010101" pitchFamily="18" charset="-127"/>
                <a:ea typeface="HY울릉도M" panose="02030600000101010101" pitchFamily="18" charset="-127"/>
              </a:defRPr>
            </a:lvl1pPr>
          </a:lstStyle>
          <a:p>
            <a:pPr lvl="0"/>
            <a:r>
              <a:rPr lang="ko-KR" altLang="en-US" dirty="0" smtClean="0"/>
              <a:t>본문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6213291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485122" y="1041850"/>
            <a:ext cx="5527038" cy="2879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r>
              <a:rPr lang="en-US" altLang="ko-KR" dirty="0" smtClean="0"/>
              <a:t>Proposal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63807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472870" y="2906688"/>
            <a:ext cx="8203586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 userDrawn="1"/>
        </p:nvSpPr>
        <p:spPr>
          <a:xfrm>
            <a:off x="471316" y="6251390"/>
            <a:ext cx="4100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본 프로그램은 저작원자의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HY견고딕" panose="02030600000101010101" pitchFamily="18" charset="-127"/>
              </a:rPr>
              <a:t> 사전동의 없이 무단으로 복사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HY견고딕" panose="02030600000101010101" pitchFamily="18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HY견고딕" panose="02030600000101010101" pitchFamily="18" charset="-127"/>
              </a:rPr>
              <a:t>사용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HY견고딕" panose="02030600000101010101" pitchFamily="18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HY견고딕" panose="02030600000101010101" pitchFamily="18" charset="-127"/>
              </a:rPr>
              <a:t>전송하거나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HY견고딕" panose="02030600000101010101" pitchFamily="18" charset="-127"/>
              </a:rPr>
              <a:t>재판매하는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HY견고딕" panose="02030600000101010101" pitchFamily="18" charset="-127"/>
              </a:rPr>
              <a:t> 행위를 금합니다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HY견고딕" panose="02030600000101010101" pitchFamily="18" charset="-127"/>
              </a:rPr>
              <a:t>.</a:t>
            </a:r>
          </a:p>
          <a:p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HY견고딕" panose="02030600000101010101" pitchFamily="18" charset="-127"/>
              </a:rPr>
              <a:t>mosuklee@gmail.com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 userDrawn="1"/>
        </p:nvSpPr>
        <p:spPr>
          <a:xfrm flipH="1">
            <a:off x="462698" y="6292918"/>
            <a:ext cx="46719" cy="345962"/>
          </a:xfrm>
          <a:prstGeom prst="rect">
            <a:avLst/>
          </a:prstGeom>
          <a:solidFill>
            <a:srgbClr val="CC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375734" y="2338290"/>
            <a:ext cx="517802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500" b="0" dirty="0" smtClean="0">
                <a:solidFill>
                  <a:srgbClr val="CC0099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SCOBA</a:t>
            </a:r>
            <a:r>
              <a:rPr lang="en-US" altLang="ko-KR" sz="2500" b="0" baseline="0" dirty="0" smtClean="0">
                <a:solidFill>
                  <a:srgbClr val="CC0099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 </a:t>
            </a:r>
            <a:r>
              <a:rPr lang="ko-KR" altLang="en-US" sz="2500" b="0" baseline="0" dirty="0" smtClean="0">
                <a:solidFill>
                  <a:srgbClr val="CC0099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프로그램 소개 및 설명서</a:t>
            </a:r>
            <a:r>
              <a:rPr lang="en-US" altLang="ko-KR" sz="2500" b="1" dirty="0" smtClean="0">
                <a:solidFill>
                  <a:srgbClr val="CC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ko-KR" altLang="en-US" sz="2500" b="1" dirty="0">
              <a:solidFill>
                <a:srgbClr val="CC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375734" y="2103183"/>
            <a:ext cx="49205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 smtClean="0">
                <a:solidFill>
                  <a:srgbClr val="CC009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Solid fuel Combustion Boiler system Analysis</a:t>
            </a:r>
            <a:endParaRPr lang="ko-KR" altLang="en-US" sz="1200" dirty="0" smtClean="0">
              <a:solidFill>
                <a:srgbClr val="CC0099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2" name="그룹 1"/>
          <p:cNvGrpSpPr/>
          <p:nvPr userDrawn="1"/>
        </p:nvGrpSpPr>
        <p:grpSpPr>
          <a:xfrm>
            <a:off x="7308304" y="332656"/>
            <a:ext cx="1682113" cy="400110"/>
            <a:chOff x="7308304" y="253319"/>
            <a:chExt cx="1682113" cy="400110"/>
          </a:xfrm>
        </p:grpSpPr>
        <p:pic>
          <p:nvPicPr>
            <p:cNvPr id="12" name="그림 11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7308304" y="332656"/>
              <a:ext cx="271210" cy="269629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 userDrawn="1"/>
          </p:nvSpPr>
          <p:spPr>
            <a:xfrm>
              <a:off x="7564399" y="253319"/>
              <a:ext cx="14260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SCOBA</a:t>
              </a:r>
              <a:endParaRPr lang="ko-KR" alt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0165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 userDrawn="1"/>
        </p:nvGrpSpPr>
        <p:grpSpPr>
          <a:xfrm>
            <a:off x="7236296" y="381957"/>
            <a:ext cx="1682113" cy="400110"/>
            <a:chOff x="7308304" y="253319"/>
            <a:chExt cx="1682113" cy="400110"/>
          </a:xfrm>
        </p:grpSpPr>
        <p:pic>
          <p:nvPicPr>
            <p:cNvPr id="13" name="그림 1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7308304" y="332656"/>
              <a:ext cx="271210" cy="269629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 userDrawn="1"/>
          </p:nvSpPr>
          <p:spPr>
            <a:xfrm>
              <a:off x="7564399" y="253319"/>
              <a:ext cx="14260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SCOBA</a:t>
              </a:r>
              <a:endParaRPr lang="ko-KR" alt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7" name="직선 연결선 6"/>
          <p:cNvCxnSpPr/>
          <p:nvPr userDrawn="1"/>
        </p:nvCxnSpPr>
        <p:spPr>
          <a:xfrm>
            <a:off x="472870" y="836712"/>
            <a:ext cx="8203586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375734" y="358356"/>
            <a:ext cx="9877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smtClean="0">
                <a:solidFill>
                  <a:srgbClr val="CC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Index</a:t>
            </a:r>
            <a:endParaRPr lang="ko-KR" altLang="en-US" sz="2400" b="1" dirty="0">
              <a:solidFill>
                <a:srgbClr val="CC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368695" y="836712"/>
            <a:ext cx="337624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 smtClean="0">
                <a:solidFill>
                  <a:srgbClr val="CC009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Solid fuel Combustion Boiler system Analysis</a:t>
            </a:r>
            <a:endParaRPr lang="ko-KR" altLang="en-US" sz="1000" dirty="0" smtClean="0">
              <a:solidFill>
                <a:srgbClr val="CC0099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6" name="부제목 2"/>
          <p:cNvSpPr txBox="1">
            <a:spLocks/>
          </p:cNvSpPr>
          <p:nvPr userDrawn="1"/>
        </p:nvSpPr>
        <p:spPr>
          <a:xfrm>
            <a:off x="4085522" y="2261236"/>
            <a:ext cx="576064" cy="43204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2400" b="1" kern="1200">
                <a:solidFill>
                  <a:srgbClr val="CC009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mtClean="0"/>
              <a:t>01</a:t>
            </a:r>
            <a:endParaRPr lang="ko-KR" altLang="en-US" dirty="0"/>
          </a:p>
        </p:txBody>
      </p:sp>
      <p:sp>
        <p:nvSpPr>
          <p:cNvPr id="27" name="텍스트 개체 틀 9"/>
          <p:cNvSpPr txBox="1">
            <a:spLocks/>
          </p:cNvSpPr>
          <p:nvPr userDrawn="1"/>
        </p:nvSpPr>
        <p:spPr>
          <a:xfrm>
            <a:off x="4084753" y="2748318"/>
            <a:ext cx="576833" cy="4320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lang="ko-KR" altLang="en-US" sz="2400" b="1" kern="1200" dirty="0">
                <a:solidFill>
                  <a:srgbClr val="CC009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mtClean="0"/>
              <a:t>02</a:t>
            </a:r>
            <a:endParaRPr lang="en-US"/>
          </a:p>
        </p:txBody>
      </p:sp>
      <p:sp>
        <p:nvSpPr>
          <p:cNvPr id="28" name="텍스트 개체 틀 9"/>
          <p:cNvSpPr txBox="1">
            <a:spLocks/>
          </p:cNvSpPr>
          <p:nvPr userDrawn="1"/>
        </p:nvSpPr>
        <p:spPr>
          <a:xfrm>
            <a:off x="4084220" y="3245730"/>
            <a:ext cx="576833" cy="4320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lang="ko-KR" altLang="en-US" sz="2400" b="1" kern="1200" dirty="0">
                <a:solidFill>
                  <a:srgbClr val="CC009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 smtClean="0"/>
              <a:t>03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921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 userDrawn="1"/>
        </p:nvGrpSpPr>
        <p:grpSpPr>
          <a:xfrm>
            <a:off x="6968056" y="403379"/>
            <a:ext cx="1682113" cy="400110"/>
            <a:chOff x="7308304" y="253319"/>
            <a:chExt cx="1682113" cy="400110"/>
          </a:xfrm>
        </p:grpSpPr>
        <p:pic>
          <p:nvPicPr>
            <p:cNvPr id="8" name="그림 7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7308304" y="332656"/>
              <a:ext cx="271210" cy="269629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 userDrawn="1"/>
          </p:nvSpPr>
          <p:spPr>
            <a:xfrm>
              <a:off x="7564399" y="253319"/>
              <a:ext cx="14260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SCOBA</a:t>
              </a:r>
              <a:endParaRPr lang="ko-KR" alt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1" name="직선 연결선 10"/>
          <p:cNvCxnSpPr/>
          <p:nvPr userDrawn="1"/>
        </p:nvCxnSpPr>
        <p:spPr>
          <a:xfrm>
            <a:off x="4933559" y="3573016"/>
            <a:ext cx="3742897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 userDrawn="1"/>
        </p:nvSpPr>
        <p:spPr>
          <a:xfrm>
            <a:off x="4371895" y="3129393"/>
            <a:ext cx="468000" cy="468000"/>
          </a:xfrm>
          <a:prstGeom prst="rect">
            <a:avLst/>
          </a:prstGeom>
          <a:solidFill>
            <a:srgbClr val="CC0099"/>
          </a:solidFill>
          <a:ln>
            <a:solidFill>
              <a:srgbClr val="CC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 userDrawn="1"/>
        </p:nvSpPr>
        <p:spPr>
          <a:xfrm>
            <a:off x="368695" y="836712"/>
            <a:ext cx="337624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 smtClean="0">
                <a:solidFill>
                  <a:srgbClr val="CC009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Solid fuel Combustion Boiler system Analysis</a:t>
            </a:r>
            <a:endParaRPr lang="ko-KR" altLang="en-US" sz="1000" dirty="0" smtClean="0">
              <a:solidFill>
                <a:srgbClr val="CC0099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3901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/>
          <p:cNvGrpSpPr/>
          <p:nvPr userDrawn="1"/>
        </p:nvGrpSpPr>
        <p:grpSpPr>
          <a:xfrm>
            <a:off x="7334744" y="416025"/>
            <a:ext cx="1682113" cy="400110"/>
            <a:chOff x="7308304" y="253319"/>
            <a:chExt cx="1682113" cy="400110"/>
          </a:xfrm>
        </p:grpSpPr>
        <p:pic>
          <p:nvPicPr>
            <p:cNvPr id="9" name="그림 8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7308304" y="332656"/>
              <a:ext cx="271210" cy="269629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 userDrawn="1"/>
          </p:nvSpPr>
          <p:spPr>
            <a:xfrm>
              <a:off x="7564399" y="253319"/>
              <a:ext cx="14260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SCOBA</a:t>
              </a:r>
              <a:endParaRPr lang="ko-KR" alt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7" name="직선 연결선 6"/>
          <p:cNvCxnSpPr/>
          <p:nvPr userDrawn="1"/>
        </p:nvCxnSpPr>
        <p:spPr>
          <a:xfrm>
            <a:off x="107504" y="805212"/>
            <a:ext cx="8928992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 userDrawn="1"/>
        </p:nvSpPr>
        <p:spPr>
          <a:xfrm>
            <a:off x="-22860" y="0"/>
            <a:ext cx="130364" cy="805212"/>
          </a:xfrm>
          <a:prstGeom prst="rect">
            <a:avLst/>
          </a:prstGeom>
          <a:solidFill>
            <a:srgbClr val="CC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 userDrawn="1"/>
        </p:nvSpPr>
        <p:spPr>
          <a:xfrm>
            <a:off x="406995" y="188640"/>
            <a:ext cx="337624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 smtClean="0">
                <a:solidFill>
                  <a:srgbClr val="CC009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Solid fuel Combustion Boiler system Analysis</a:t>
            </a:r>
            <a:endParaRPr lang="ko-KR" altLang="en-US" sz="1000" dirty="0" smtClean="0">
              <a:solidFill>
                <a:srgbClr val="CC0099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4601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 userDrawn="1"/>
        </p:nvGrpSpPr>
        <p:grpSpPr>
          <a:xfrm>
            <a:off x="6994343" y="315260"/>
            <a:ext cx="1682113" cy="400110"/>
            <a:chOff x="7308304" y="253319"/>
            <a:chExt cx="1682113" cy="400110"/>
          </a:xfrm>
        </p:grpSpPr>
        <p:pic>
          <p:nvPicPr>
            <p:cNvPr id="13" name="그림 1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7308304" y="332656"/>
              <a:ext cx="271210" cy="269629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 userDrawn="1"/>
          </p:nvSpPr>
          <p:spPr>
            <a:xfrm>
              <a:off x="7564399" y="253319"/>
              <a:ext cx="14260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SCOBA</a:t>
              </a:r>
              <a:endParaRPr lang="ko-KR" alt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7" name="직선 연결선 6"/>
          <p:cNvCxnSpPr/>
          <p:nvPr userDrawn="1"/>
        </p:nvCxnSpPr>
        <p:spPr>
          <a:xfrm>
            <a:off x="472870" y="3558444"/>
            <a:ext cx="8203586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471317" y="6251390"/>
            <a:ext cx="3600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Mo Suk, Lee</a:t>
            </a:r>
          </a:p>
          <a:p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mosuklee@gmail.com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HY견고딕" panose="02030600000101010101" pitchFamily="18" charset="-127"/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471317" y="6251390"/>
            <a:ext cx="45719" cy="338554"/>
          </a:xfrm>
          <a:prstGeom prst="rect">
            <a:avLst/>
          </a:prstGeom>
          <a:solidFill>
            <a:srgbClr val="CC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6173989" y="2996952"/>
            <a:ext cx="23455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Thank you.</a:t>
            </a:r>
            <a:endParaRPr lang="ko-KR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533434" y="526106"/>
            <a:ext cx="44706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 smtClean="0">
                <a:solidFill>
                  <a:srgbClr val="CC0099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Solid fuel Combustion Boiler system Analysis</a:t>
            </a:r>
            <a:endParaRPr lang="ko-KR" altLang="en-US" sz="1000" dirty="0" smtClean="0">
              <a:solidFill>
                <a:srgbClr val="CC0099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6" name="TextBox 15"/>
          <p:cNvSpPr txBox="1"/>
          <p:nvPr userDrawn="1"/>
        </p:nvSpPr>
        <p:spPr>
          <a:xfrm>
            <a:off x="494176" y="714047"/>
            <a:ext cx="302127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dirty="0" smtClean="0">
                <a:solidFill>
                  <a:srgbClr val="CC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SCOBA</a:t>
            </a:r>
            <a:r>
              <a:rPr lang="en-US" altLang="ko-KR" sz="2500" b="1" baseline="0" dirty="0" smtClean="0">
                <a:solidFill>
                  <a:srgbClr val="CC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2500" b="1" baseline="0" dirty="0" smtClean="0">
                <a:solidFill>
                  <a:srgbClr val="CC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사용설명서</a:t>
            </a:r>
            <a:endParaRPr lang="ko-KR" altLang="en-US" sz="2500" b="1" dirty="0">
              <a:solidFill>
                <a:srgbClr val="CC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789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 smtClean="0"/>
              <a:t>2017.06.11</a:t>
            </a:r>
            <a:endParaRPr lang="ko-KR" altLang="en-US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430290" y="2996952"/>
            <a:ext cx="8229600" cy="36004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467544" y="3356992"/>
            <a:ext cx="8229600" cy="360040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spcBef>
                <a:spcPct val="0"/>
              </a:spcBef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j-cs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3048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smtClean="0"/>
              <a:t>프로그램 소개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 smtClean="0"/>
              <a:t>프로그램의 특징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ko-KR" altLang="en-US" dirty="0"/>
          </a:p>
        </p:txBody>
      </p:sp>
      <p:cxnSp>
        <p:nvCxnSpPr>
          <p:cNvPr id="3" name="직선 연결선 2"/>
          <p:cNvCxnSpPr/>
          <p:nvPr/>
        </p:nvCxnSpPr>
        <p:spPr>
          <a:xfrm>
            <a:off x="3995936" y="2204864"/>
            <a:ext cx="0" cy="3672408"/>
          </a:xfrm>
          <a:prstGeom prst="line">
            <a:avLst/>
          </a:prstGeom>
          <a:ln w="57150">
            <a:solidFill>
              <a:srgbClr val="CC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ghtScreen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845" y="2228013"/>
            <a:ext cx="2921745" cy="3600000"/>
          </a:xfrm>
          <a:prstGeom prst="roundRect">
            <a:avLst>
              <a:gd name="adj" fmla="val 639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모서리가 둥근 직사각형 3"/>
          <p:cNvSpPr/>
          <p:nvPr/>
        </p:nvSpPr>
        <p:spPr>
          <a:xfrm>
            <a:off x="513844" y="2228012"/>
            <a:ext cx="2921745" cy="3600001"/>
          </a:xfrm>
          <a:prstGeom prst="roundRect">
            <a:avLst>
              <a:gd name="adj" fmla="val 5218"/>
            </a:avLst>
          </a:prstGeom>
          <a:noFill/>
          <a:ln>
            <a:solidFill>
              <a:srgbClr val="CC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 smtClean="0"/>
              <a:t>프로그램의 주요 기능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7288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프로그램 개요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01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0055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E50C4-0A3E-495D-9A95-CA3D2D0EF038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5" name="텍스트 개체 틀 3"/>
          <p:cNvSpPr txBox="1">
            <a:spLocks/>
          </p:cNvSpPr>
          <p:nvPr/>
        </p:nvSpPr>
        <p:spPr>
          <a:xfrm>
            <a:off x="539304" y="1119188"/>
            <a:ext cx="5256832" cy="43227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□ </a:t>
            </a:r>
            <a:r>
              <a:rPr lang="en-US" altLang="ko-KR" dirty="0" smtClean="0"/>
              <a:t>SCOBA </a:t>
            </a:r>
            <a:r>
              <a:rPr lang="ko-KR" altLang="en-US" dirty="0" smtClean="0"/>
              <a:t>프로그램의</a:t>
            </a:r>
            <a:r>
              <a:rPr lang="en-US" altLang="ko-KR" dirty="0" smtClean="0"/>
              <a:t> </a:t>
            </a:r>
            <a:r>
              <a:rPr lang="ko-KR" altLang="en-US" dirty="0" smtClean="0"/>
              <a:t>소개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프로그램 소개</a:t>
            </a:r>
            <a:endParaRPr lang="ko-KR" altLang="en-US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676437" y="1512195"/>
            <a:ext cx="4007796" cy="4509093"/>
          </a:xfrm>
          <a:prstGeom prst="roundRect">
            <a:avLst>
              <a:gd name="adj" fmla="val 380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0488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○ 본 프로그램은 산업용폐기물이나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고형연료인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marL="90488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SRF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나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BIO-SRF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를 연소하여 열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스팀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을 생산하기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marL="90488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  위한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전용 보일러를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해석하고 대기오염방지설비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marL="90488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를 설계 및 해석하기 위한 프로그램 입니다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marL="90488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 </a:t>
            </a:r>
          </a:p>
          <a:p>
            <a:pPr marL="90488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○ 기존의 소각로나 고형연료 보일러의 설계 계산은 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marL="90488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 Excel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등으로 계산하여 개인의 역량이나 숙련된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marL="90488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설계자들만 계산이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가능하였으나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본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프로그램의 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marL="90488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기본적인 프로그램 사용법만 익히면 쉽게 검증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marL="90488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된 계산방법에 의하여 계산이 수행되므로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초보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marL="90488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자도 쉽게 설계가 가능하며 또한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설계 품질을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marL="90488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향상시킬 수 있습니다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90488"/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marL="90488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○ 본 프로그램의 가장 큰 특징은 무엇보다도 입력한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marL="90488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    계산결과를 동시에 모니터링 하면서 설계를 진행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marL="90488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할 수 있으며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환경설비를 설계할 경우도 아주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marL="90488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    빠르게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기기를 선택하고 설계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할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수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있어 편리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marL="90488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    합니다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marL="90488"/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marL="90488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○ 본 프로그램은 한국저작권위원회의 </a:t>
            </a:r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저작원등록이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 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marL="90488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된어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 있는 소프트웨어로서 저작권자의 사전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동의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marL="90488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 또는 허락 없이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무단으로 사용할 수 없습니다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1367" y="1489306"/>
            <a:ext cx="3508010" cy="453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510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프로그램의  특징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02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0937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프로그램의 특징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4D4E50C4-0A3E-495D-9A95-CA3D2D0EF038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15" name="텍스트 개체 틀 3"/>
          <p:cNvSpPr txBox="1">
            <a:spLocks/>
          </p:cNvSpPr>
          <p:nvPr/>
        </p:nvSpPr>
        <p:spPr>
          <a:xfrm>
            <a:off x="539304" y="1119188"/>
            <a:ext cx="5256832" cy="43227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□ 프로그램의 특징</a:t>
            </a:r>
            <a:endParaRPr lang="ko-KR" altLang="en-US" dirty="0"/>
          </a:p>
        </p:txBody>
      </p:sp>
      <p:sp>
        <p:nvSpPr>
          <p:cNvPr id="21" name="모서리가 둥근 직사각형 20"/>
          <p:cNvSpPr/>
          <p:nvPr/>
        </p:nvSpPr>
        <p:spPr>
          <a:xfrm>
            <a:off x="676436" y="1512195"/>
            <a:ext cx="7567971" cy="908693"/>
          </a:xfrm>
          <a:prstGeom prst="roundRect">
            <a:avLst>
              <a:gd name="adj" fmla="val 380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○ 고형연료 및 </a:t>
            </a:r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소각로등의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 설계와 대기오염방지시설의 신속한 설계 가능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marL="361950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○ 초보자도 쉽게 도움말을 읽고 사용가능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marL="361950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○ 모든 공정을 한눈에 보면서 계산이 가능하므로 계산결과를 즉시 </a:t>
            </a:r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확인후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 최적설계 가능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marL="361950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○ </a:t>
            </a:r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기본설계시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Case Study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를 </a:t>
            </a:r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할경우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 빠른 </a:t>
            </a:r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시간내에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여러가지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조건별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 계산이 가능하다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676436" y="4839779"/>
            <a:ext cx="7567971" cy="1109725"/>
          </a:xfrm>
          <a:prstGeom prst="roundRect">
            <a:avLst>
              <a:gd name="adj" fmla="val 380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○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연소로 </a:t>
            </a:r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열정산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 및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SIZE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계산             ○ 보일러 스팀생산량 계산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marL="361950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○ 연료 소비량 계산                          ○ 연료 발열량 계산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marL="361950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○ 대기오염방지설비 배출농도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약품량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 및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SIZE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계산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marL="361950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 (SNCR, CYCLONE, SDR, DR, BAGFILTER, SCR, WET SCRUBBER, AIRPREHEATER, STACK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등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            </a:t>
            </a:r>
            <a:endParaRPr lang="ko-KR" altLang="en-US" sz="1200" dirty="0"/>
          </a:p>
        </p:txBody>
      </p:sp>
      <p:sp>
        <p:nvSpPr>
          <p:cNvPr id="40" name="텍스트 개체 틀 3"/>
          <p:cNvSpPr txBox="1">
            <a:spLocks/>
          </p:cNvSpPr>
          <p:nvPr/>
        </p:nvSpPr>
        <p:spPr>
          <a:xfrm>
            <a:off x="539304" y="4437112"/>
            <a:ext cx="5256832" cy="43227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□ 계산 범위</a:t>
            </a:r>
            <a:endParaRPr lang="ko-KR" altLang="en-US" dirty="0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676436" y="3039355"/>
            <a:ext cx="7567971" cy="1109725"/>
          </a:xfrm>
          <a:prstGeom prst="roundRect">
            <a:avLst>
              <a:gd name="adj" fmla="val 380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○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FUEL MANAGER(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연료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DATABASE)      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○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FUEL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DESIGN(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연료 발열량 계산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)</a:t>
            </a:r>
          </a:p>
          <a:p>
            <a:pPr marL="361950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○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INCINERATOR(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소각로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) </a:t>
            </a:r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열정산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            ○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ENVIROMENT/EQUIPMENT </a:t>
            </a:r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열정산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marL="361950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○ </a:t>
            </a:r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열정산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 계산서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출력</a:t>
            </a:r>
            <a:endParaRPr lang="ko-KR" altLang="en-US" sz="1200" dirty="0"/>
          </a:p>
        </p:txBody>
      </p:sp>
      <p:sp>
        <p:nvSpPr>
          <p:cNvPr id="42" name="텍스트 개체 틀 3"/>
          <p:cNvSpPr txBox="1">
            <a:spLocks/>
          </p:cNvSpPr>
          <p:nvPr/>
        </p:nvSpPr>
        <p:spPr>
          <a:xfrm>
            <a:off x="539304" y="2640051"/>
            <a:ext cx="5256832" cy="43227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□ 프로그램의 구성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5684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E50C4-0A3E-495D-9A95-CA3D2D0EF038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5" name="텍스트 개체 틀 3"/>
          <p:cNvSpPr txBox="1">
            <a:spLocks/>
          </p:cNvSpPr>
          <p:nvPr/>
        </p:nvSpPr>
        <p:spPr>
          <a:xfrm>
            <a:off x="539304" y="1119188"/>
            <a:ext cx="5256832" cy="43227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□ 프로그램의 계산방법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프로그램의 특징</a:t>
            </a:r>
            <a:endParaRPr lang="ko-KR" alt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4139952" y="1700808"/>
            <a:ext cx="0" cy="432048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모서리가 둥근 직사각형 8"/>
          <p:cNvSpPr/>
          <p:nvPr/>
        </p:nvSpPr>
        <p:spPr>
          <a:xfrm>
            <a:off x="827584" y="1816991"/>
            <a:ext cx="2880320" cy="43204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chemeClr val="tx1"/>
                </a:solidFill>
              </a:rPr>
              <a:t>연료 설계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0" name="아래쪽 화살표 9"/>
          <p:cNvSpPr/>
          <p:nvPr/>
        </p:nvSpPr>
        <p:spPr>
          <a:xfrm>
            <a:off x="1403648" y="2321047"/>
            <a:ext cx="1584176" cy="216024"/>
          </a:xfrm>
          <a:prstGeom prst="downArrow">
            <a:avLst>
              <a:gd name="adj1" fmla="val 79718"/>
              <a:gd name="adj2" fmla="val 50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848714" y="2609079"/>
            <a:ext cx="2880320" cy="43204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chemeClr val="tx1"/>
                </a:solidFill>
              </a:rPr>
              <a:t>연소로 설계 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2" name="아래쪽 화살표 11"/>
          <p:cNvSpPr/>
          <p:nvPr/>
        </p:nvSpPr>
        <p:spPr>
          <a:xfrm>
            <a:off x="1366441" y="3113135"/>
            <a:ext cx="1584176" cy="216024"/>
          </a:xfrm>
          <a:prstGeom prst="downArrow">
            <a:avLst>
              <a:gd name="adj1" fmla="val 79718"/>
              <a:gd name="adj2" fmla="val 50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811507" y="3401167"/>
            <a:ext cx="2880320" cy="43204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chemeClr val="tx1"/>
                </a:solidFill>
              </a:rPr>
              <a:t>환경설비 설계 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1366440" y="4075271"/>
            <a:ext cx="2362593" cy="43204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 smtClean="0">
                <a:solidFill>
                  <a:schemeClr val="tx1"/>
                </a:solidFill>
              </a:rPr>
              <a:t>NOx,Sox,HCl</a:t>
            </a:r>
            <a:r>
              <a:rPr lang="en-US" altLang="ko-KR" sz="1600" dirty="0" smtClean="0">
                <a:solidFill>
                  <a:schemeClr val="tx1"/>
                </a:solidFill>
              </a:rPr>
              <a:t> </a:t>
            </a:r>
            <a:r>
              <a:rPr lang="ko-KR" altLang="en-US" sz="1600" dirty="0" smtClean="0">
                <a:solidFill>
                  <a:schemeClr val="tx1"/>
                </a:solidFill>
              </a:rPr>
              <a:t>제거 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1371153" y="4659424"/>
            <a:ext cx="2362593" cy="43204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</a:rPr>
              <a:t>DUST </a:t>
            </a:r>
            <a:r>
              <a:rPr lang="ko-KR" altLang="en-US" sz="1600" dirty="0" smtClean="0">
                <a:solidFill>
                  <a:schemeClr val="tx1"/>
                </a:solidFill>
              </a:rPr>
              <a:t>제거 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cxnSp>
        <p:nvCxnSpPr>
          <p:cNvPr id="17" name="직선 연결선 16"/>
          <p:cNvCxnSpPr/>
          <p:nvPr/>
        </p:nvCxnSpPr>
        <p:spPr>
          <a:xfrm>
            <a:off x="1115616" y="3833215"/>
            <a:ext cx="0" cy="1042233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>
            <a:endCxn id="15" idx="1"/>
          </p:cNvCxnSpPr>
          <p:nvPr/>
        </p:nvCxnSpPr>
        <p:spPr>
          <a:xfrm>
            <a:off x="1115616" y="4875448"/>
            <a:ext cx="255537" cy="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1110903" y="4294303"/>
            <a:ext cx="255537" cy="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아래쪽 화살표 20"/>
          <p:cNvSpPr/>
          <p:nvPr/>
        </p:nvSpPr>
        <p:spPr>
          <a:xfrm>
            <a:off x="1366440" y="5235488"/>
            <a:ext cx="1584176" cy="216024"/>
          </a:xfrm>
          <a:prstGeom prst="downArrow">
            <a:avLst>
              <a:gd name="adj1" fmla="val 79718"/>
              <a:gd name="adj2" fmla="val 50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22" name="모서리가 둥근 직사각형 21"/>
          <p:cNvSpPr/>
          <p:nvPr/>
        </p:nvSpPr>
        <p:spPr>
          <a:xfrm>
            <a:off x="827584" y="5542906"/>
            <a:ext cx="2880320" cy="43204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chemeClr val="tx1"/>
                </a:solidFill>
              </a:rPr>
              <a:t>대기배출 농도계산</a:t>
            </a:r>
            <a:r>
              <a:rPr lang="ko-KR" altLang="en-US" sz="1600" dirty="0">
                <a:solidFill>
                  <a:schemeClr val="tx1"/>
                </a:solidFill>
              </a:rPr>
              <a:t>서</a:t>
            </a:r>
          </a:p>
        </p:txBody>
      </p:sp>
      <p:sp>
        <p:nvSpPr>
          <p:cNvPr id="23" name="모서리가 둥근 직사각형 22"/>
          <p:cNvSpPr/>
          <p:nvPr/>
        </p:nvSpPr>
        <p:spPr>
          <a:xfrm>
            <a:off x="4546159" y="1816991"/>
            <a:ext cx="3338208" cy="43204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</a:rPr>
              <a:t>FUEL DESIGN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4" name="아래쪽 화살표 23"/>
          <p:cNvSpPr/>
          <p:nvPr/>
        </p:nvSpPr>
        <p:spPr>
          <a:xfrm>
            <a:off x="5519471" y="2321047"/>
            <a:ext cx="1584176" cy="216024"/>
          </a:xfrm>
          <a:prstGeom prst="downArrow">
            <a:avLst>
              <a:gd name="adj1" fmla="val 79718"/>
              <a:gd name="adj2" fmla="val 50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25" name="모서리가 둥근 직사각형 24"/>
          <p:cNvSpPr/>
          <p:nvPr/>
        </p:nvSpPr>
        <p:spPr>
          <a:xfrm>
            <a:off x="4546158" y="2566795"/>
            <a:ext cx="3338209" cy="43204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</a:rPr>
              <a:t>INCINERATOR/HEATBALANCE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6" name="아래쪽 화살표 25"/>
          <p:cNvSpPr/>
          <p:nvPr/>
        </p:nvSpPr>
        <p:spPr>
          <a:xfrm>
            <a:off x="5508104" y="3070221"/>
            <a:ext cx="1584176" cy="216024"/>
          </a:xfrm>
          <a:prstGeom prst="downArrow">
            <a:avLst>
              <a:gd name="adj1" fmla="val 79718"/>
              <a:gd name="adj2" fmla="val 50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27" name="모서리가 둥근 직사각형 26"/>
          <p:cNvSpPr/>
          <p:nvPr/>
        </p:nvSpPr>
        <p:spPr>
          <a:xfrm>
            <a:off x="4534791" y="3357623"/>
            <a:ext cx="3349575" cy="43204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</a:rPr>
              <a:t>ENVIERMENT/</a:t>
            </a:r>
            <a:r>
              <a:rPr lang="en-US" altLang="ko-KR" sz="1600" dirty="0" err="1" smtClean="0">
                <a:solidFill>
                  <a:schemeClr val="tx1"/>
                </a:solidFill>
              </a:rPr>
              <a:t>EQIP_Setting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4534790" y="3861048"/>
            <a:ext cx="3349575" cy="123042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</a:rPr>
              <a:t>AIR-PREHEATER,CYCLONE,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</a:rPr>
              <a:t>SDR,DR,BAG FILTER,SCR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</a:rPr>
              <a:t>WET SCRUBBER,STACK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9" name="아래쪽 화살표 28"/>
          <p:cNvSpPr/>
          <p:nvPr/>
        </p:nvSpPr>
        <p:spPr>
          <a:xfrm>
            <a:off x="5519471" y="5219124"/>
            <a:ext cx="1584176" cy="216024"/>
          </a:xfrm>
          <a:prstGeom prst="downArrow">
            <a:avLst>
              <a:gd name="adj1" fmla="val 79718"/>
              <a:gd name="adj2" fmla="val 50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30" name="모서리가 둥근 직사각형 29"/>
          <p:cNvSpPr/>
          <p:nvPr/>
        </p:nvSpPr>
        <p:spPr>
          <a:xfrm>
            <a:off x="4559409" y="5542906"/>
            <a:ext cx="3324956" cy="43204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</a:rPr>
              <a:t>REPORT PRINT OUT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212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smtClean="0"/>
              <a:t>프로그램의 주요기능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03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0508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프로그램 주요기능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E50C4-0A3E-495D-9A95-CA3D2D0EF038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40" name="텍스트 개체 틀 3"/>
          <p:cNvSpPr txBox="1">
            <a:spLocks/>
          </p:cNvSpPr>
          <p:nvPr/>
        </p:nvSpPr>
        <p:spPr>
          <a:xfrm>
            <a:off x="539304" y="1119188"/>
            <a:ext cx="5256832" cy="43227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□ 시작 프로그램 화면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551460"/>
            <a:ext cx="7776864" cy="3888432"/>
          </a:xfrm>
          <a:prstGeom prst="rect">
            <a:avLst/>
          </a:prstGeom>
        </p:spPr>
      </p:pic>
      <p:sp>
        <p:nvSpPr>
          <p:cNvPr id="24" name="모서리가 둥근 직사각형 23"/>
          <p:cNvSpPr/>
          <p:nvPr/>
        </p:nvSpPr>
        <p:spPr>
          <a:xfrm>
            <a:off x="596991" y="5535727"/>
            <a:ext cx="7791433" cy="723358"/>
          </a:xfrm>
          <a:prstGeom prst="roundRect">
            <a:avLst>
              <a:gd name="adj" fmla="val 380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○ 프로그램을 처음 시작하면 나오는 화면이다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361950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○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OK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를 클릭하면 프로그램을 사용할 수 있다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79546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/>
              <a:t>프로그램 주요기능</a:t>
            </a:r>
          </a:p>
          <a:p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E50C4-0A3E-495D-9A95-CA3D2D0EF038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5" name="텍스트 개체 틀 3"/>
          <p:cNvSpPr txBox="1">
            <a:spLocks/>
          </p:cNvSpPr>
          <p:nvPr/>
        </p:nvSpPr>
        <p:spPr>
          <a:xfrm>
            <a:off x="539304" y="1119188"/>
            <a:ext cx="5256832" cy="43227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□ </a:t>
            </a:r>
            <a:r>
              <a:rPr lang="en-US" altLang="ko-KR" dirty="0" smtClean="0"/>
              <a:t>FUEL MANAGER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551460"/>
            <a:ext cx="7886441" cy="3471544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596991" y="5535727"/>
            <a:ext cx="7791433" cy="723358"/>
          </a:xfrm>
          <a:prstGeom prst="roundRect">
            <a:avLst>
              <a:gd name="adj" fmla="val 380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○ 연료를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DATABASE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화 하여 저장하고 프로그램에서 사용할 수 있도록 구성하였다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361950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○ 연료의 발열량의 계산이 가능하고 저장 </a:t>
            </a:r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편집등이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 가능하다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3822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E50C4-0A3E-495D-9A95-CA3D2D0EF038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5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/>
              <a:t>프로그램 주요기능</a:t>
            </a:r>
          </a:p>
          <a:p>
            <a:endParaRPr lang="ko-KR" altLang="en-US" dirty="0"/>
          </a:p>
        </p:txBody>
      </p:sp>
      <p:sp>
        <p:nvSpPr>
          <p:cNvPr id="6" name="텍스트 개체 틀 3"/>
          <p:cNvSpPr txBox="1">
            <a:spLocks/>
          </p:cNvSpPr>
          <p:nvPr/>
        </p:nvSpPr>
        <p:spPr>
          <a:xfrm>
            <a:off x="539304" y="1119188"/>
            <a:ext cx="5256832" cy="43227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□ </a:t>
            </a:r>
            <a:r>
              <a:rPr lang="en-US" altLang="ko-KR" dirty="0" smtClean="0"/>
              <a:t>FUEL DESIGN</a:t>
            </a:r>
            <a:endParaRPr lang="ko-KR" altLang="en-US" dirty="0"/>
          </a:p>
        </p:txBody>
      </p:sp>
      <p:sp>
        <p:nvSpPr>
          <p:cNvPr id="8" name="모서리가 둥근 직사각형 7"/>
          <p:cNvSpPr/>
          <p:nvPr/>
        </p:nvSpPr>
        <p:spPr>
          <a:xfrm>
            <a:off x="596991" y="5535727"/>
            <a:ext cx="7791433" cy="723358"/>
          </a:xfrm>
          <a:prstGeom prst="roundRect">
            <a:avLst>
              <a:gd name="adj" fmla="val 380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○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FUEL MANAGER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에서 </a:t>
            </a:r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입력받거나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 사용자가 직접 입력할 수 있도록 구성하였다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361950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○ 연료의 발열량의 계산이 가능하고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CALCULATION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을 누르면 계산된 자료가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INCINERATOR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의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PFD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자료로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marL="361950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넘어가 계산을 할 수 있도록 한다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37" y="1493865"/>
            <a:ext cx="7905906" cy="3314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232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79" y="1493807"/>
            <a:ext cx="7745559" cy="3447469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E50C4-0A3E-495D-9A95-CA3D2D0EF038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5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/>
              <a:t>프로그램 주요기능</a:t>
            </a:r>
          </a:p>
          <a:p>
            <a:endParaRPr lang="ko-KR" altLang="en-US" dirty="0"/>
          </a:p>
        </p:txBody>
      </p:sp>
      <p:sp>
        <p:nvSpPr>
          <p:cNvPr id="6" name="텍스트 개체 틀 3"/>
          <p:cNvSpPr txBox="1">
            <a:spLocks/>
          </p:cNvSpPr>
          <p:nvPr/>
        </p:nvSpPr>
        <p:spPr>
          <a:xfrm>
            <a:off x="539304" y="1119188"/>
            <a:ext cx="5256832" cy="43227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□ </a:t>
            </a:r>
            <a:r>
              <a:rPr lang="en-US" altLang="ko-KR" dirty="0" smtClean="0"/>
              <a:t>INCINERATOR </a:t>
            </a:r>
            <a:r>
              <a:rPr lang="ko-KR" altLang="en-US" dirty="0" err="1" smtClean="0"/>
              <a:t>열정산</a:t>
            </a:r>
            <a:endParaRPr lang="ko-KR" altLang="en-US" dirty="0"/>
          </a:p>
        </p:txBody>
      </p:sp>
      <p:sp>
        <p:nvSpPr>
          <p:cNvPr id="8" name="모서리가 둥근 직사각형 7"/>
          <p:cNvSpPr/>
          <p:nvPr/>
        </p:nvSpPr>
        <p:spPr>
          <a:xfrm>
            <a:off x="604275" y="5046529"/>
            <a:ext cx="7791433" cy="1395117"/>
          </a:xfrm>
          <a:prstGeom prst="roundRect">
            <a:avLst>
              <a:gd name="adj" fmla="val 380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○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PFD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를 보면서 직접 </a:t>
            </a:r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열정산을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 계산할 수 있다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361950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○ </a:t>
            </a:r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공기비를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 연소로 출구온도계산과 병행하여 자동으로 계산할 수 있으며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최근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NOX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및 효율개선을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marL="361950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위하여 설계에 반영한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FLUE GAS RECIRCULATION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까지 자동계산이 가능하다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361950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○ </a:t>
            </a:r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연소로에서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 직접 배기가스를 추출하여 </a:t>
            </a:r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건조로등에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 사용할 수 있도록 계산을 할 수 있으며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열매체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marL="361950"/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보일러에 대한 열정산도 계산이 가능하다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361950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○ 프로그램의 가능 큰 특징인 배기가스의 유량 및 조성과 스팀생산량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시스템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효율 등을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한눈에 계산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marL="361950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하면서 확인할 수 있다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02360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1563159"/>
            <a:ext cx="4573438" cy="3333376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E50C4-0A3E-495D-9A95-CA3D2D0EF038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5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/>
              <a:t>프로그램 주요기능</a:t>
            </a:r>
          </a:p>
          <a:p>
            <a:endParaRPr lang="ko-KR" altLang="en-US" dirty="0"/>
          </a:p>
        </p:txBody>
      </p:sp>
      <p:sp>
        <p:nvSpPr>
          <p:cNvPr id="7" name="텍스트 개체 틀 3"/>
          <p:cNvSpPr txBox="1">
            <a:spLocks/>
          </p:cNvSpPr>
          <p:nvPr/>
        </p:nvSpPr>
        <p:spPr>
          <a:xfrm>
            <a:off x="539304" y="1119188"/>
            <a:ext cx="5256832" cy="43227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□ </a:t>
            </a:r>
            <a:r>
              <a:rPr lang="en-US" altLang="ko-KR" dirty="0" smtClean="0"/>
              <a:t>ENVIROMENT EQUIPMENT</a:t>
            </a:r>
            <a:r>
              <a:rPr lang="ko-KR" altLang="en-US" dirty="0" smtClean="0"/>
              <a:t>의 선정 및 계산</a:t>
            </a:r>
            <a:endParaRPr lang="ko-KR" altLang="en-US" dirty="0"/>
          </a:p>
        </p:txBody>
      </p:sp>
      <p:sp>
        <p:nvSpPr>
          <p:cNvPr id="8" name="모서리가 둥근 직사각형 7"/>
          <p:cNvSpPr/>
          <p:nvPr/>
        </p:nvSpPr>
        <p:spPr>
          <a:xfrm>
            <a:off x="604275" y="5046529"/>
            <a:ext cx="7791433" cy="1395117"/>
          </a:xfrm>
          <a:prstGeom prst="roundRect">
            <a:avLst>
              <a:gd name="adj" fmla="val 380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○ 환경설비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대기오염방지설비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를 설계하기 위한 모듈이다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361950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○ 왼쪽 창이 </a:t>
            </a:r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계산가능한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 대기오염 방지설비이며 오른쪽 창이 선정된 대기오염방지설비이다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361950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사용자가 필요한 대기오염장지설비를 선택한 순서에 따라 각각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EQUIPMENT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의 </a:t>
            </a:r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열정산이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 이루어진다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361950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○ 대기오염 배출계수를 클릭하면  국립환경과학원에서 발표한 오염계수를 선택하여 설계에 반영할 수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marL="361950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있도록 구성하였다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361950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○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CALCULATION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을 누르면 환경설비에 대한 </a:t>
            </a:r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열정산이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 계산되며 대기배출농도가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PANEL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에 나타난 것처럼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marL="361950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농도 설계기준 값과 비율 그리고 </a:t>
            </a:r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설계기준값을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 초과하는지에 대한 내용을 확인할 수 있다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88088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E50C4-0A3E-495D-9A95-CA3D2D0EF038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5" name="텍스트 개체 틀 3"/>
          <p:cNvSpPr txBox="1">
            <a:spLocks/>
          </p:cNvSpPr>
          <p:nvPr/>
        </p:nvSpPr>
        <p:spPr>
          <a:xfrm>
            <a:off x="539304" y="1119188"/>
            <a:ext cx="3240608" cy="43227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□ </a:t>
            </a:r>
            <a:r>
              <a:rPr lang="en-US" altLang="ko-KR" dirty="0" smtClean="0"/>
              <a:t>SNCR</a:t>
            </a:r>
            <a:endParaRPr lang="ko-KR" altLang="en-US" dirty="0"/>
          </a:p>
        </p:txBody>
      </p:sp>
      <p:sp>
        <p:nvSpPr>
          <p:cNvPr id="6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/>
              <a:t>프로그램 주요기능</a:t>
            </a:r>
          </a:p>
          <a:p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792733"/>
            <a:ext cx="4417892" cy="3672408"/>
          </a:xfrm>
          <a:prstGeom prst="rect">
            <a:avLst/>
          </a:prstGeom>
        </p:spPr>
      </p:pic>
      <p:sp>
        <p:nvSpPr>
          <p:cNvPr id="8" name="텍스트 개체 틀 3"/>
          <p:cNvSpPr txBox="1">
            <a:spLocks/>
          </p:cNvSpPr>
          <p:nvPr/>
        </p:nvSpPr>
        <p:spPr>
          <a:xfrm>
            <a:off x="5148064" y="1119188"/>
            <a:ext cx="2862724" cy="43227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□ </a:t>
            </a:r>
            <a:r>
              <a:rPr lang="en-US" altLang="ko-KR" dirty="0" smtClean="0"/>
              <a:t>AIR PRE-HEATER</a:t>
            </a:r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332" y="1810417"/>
            <a:ext cx="3944544" cy="3325342"/>
          </a:xfrm>
          <a:prstGeom prst="rect">
            <a:avLst/>
          </a:prstGeom>
        </p:spPr>
      </p:pic>
      <p:cxnSp>
        <p:nvCxnSpPr>
          <p:cNvPr id="13" name="직선 연결선 12"/>
          <p:cNvCxnSpPr/>
          <p:nvPr/>
        </p:nvCxnSpPr>
        <p:spPr>
          <a:xfrm>
            <a:off x="4427984" y="1119188"/>
            <a:ext cx="0" cy="52668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9849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E50C4-0A3E-495D-9A95-CA3D2D0EF038}" type="slidenum">
              <a:rPr lang="ko-KR" altLang="en-US" smtClean="0"/>
              <a:t>15</a:t>
            </a:fld>
            <a:endParaRPr lang="ko-KR" altLang="en-US" dirty="0"/>
          </a:p>
        </p:txBody>
      </p:sp>
      <p:sp>
        <p:nvSpPr>
          <p:cNvPr id="5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/>
              <a:t>프로그램 주요기능</a:t>
            </a:r>
          </a:p>
          <a:p>
            <a:endParaRPr lang="ko-KR" altLang="en-US" dirty="0"/>
          </a:p>
        </p:txBody>
      </p:sp>
      <p:cxnSp>
        <p:nvCxnSpPr>
          <p:cNvPr id="6" name="직선 연결선 5"/>
          <p:cNvCxnSpPr/>
          <p:nvPr/>
        </p:nvCxnSpPr>
        <p:spPr>
          <a:xfrm>
            <a:off x="4427984" y="1119188"/>
            <a:ext cx="0" cy="52668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988840"/>
            <a:ext cx="3179917" cy="3918216"/>
          </a:xfrm>
          <a:prstGeom prst="rect">
            <a:avLst/>
          </a:prstGeom>
        </p:spPr>
      </p:pic>
      <p:sp>
        <p:nvSpPr>
          <p:cNvPr id="8" name="텍스트 개체 틀 3"/>
          <p:cNvSpPr txBox="1">
            <a:spLocks/>
          </p:cNvSpPr>
          <p:nvPr/>
        </p:nvSpPr>
        <p:spPr>
          <a:xfrm>
            <a:off x="539304" y="1119188"/>
            <a:ext cx="3240608" cy="43227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□ </a:t>
            </a:r>
            <a:r>
              <a:rPr lang="en-US" altLang="ko-KR" dirty="0" smtClean="0"/>
              <a:t>CYCLONE</a:t>
            </a:r>
            <a:endParaRPr lang="ko-KR" altLang="en-US" dirty="0"/>
          </a:p>
        </p:txBody>
      </p:sp>
      <p:sp>
        <p:nvSpPr>
          <p:cNvPr id="9" name="텍스트 개체 틀 3"/>
          <p:cNvSpPr txBox="1">
            <a:spLocks/>
          </p:cNvSpPr>
          <p:nvPr/>
        </p:nvSpPr>
        <p:spPr>
          <a:xfrm>
            <a:off x="5148064" y="1119188"/>
            <a:ext cx="2862724" cy="43227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□ </a:t>
            </a:r>
            <a:r>
              <a:rPr lang="en-US" altLang="ko-KR" dirty="0" smtClean="0"/>
              <a:t>SDR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1935605"/>
            <a:ext cx="4009159" cy="393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240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E50C4-0A3E-495D-9A95-CA3D2D0EF038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5" name="텍스트 개체 틀 3"/>
          <p:cNvSpPr txBox="1">
            <a:spLocks/>
          </p:cNvSpPr>
          <p:nvPr/>
        </p:nvSpPr>
        <p:spPr>
          <a:xfrm>
            <a:off x="539304" y="1119188"/>
            <a:ext cx="3240608" cy="43227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□ </a:t>
            </a:r>
            <a:r>
              <a:rPr lang="en-US" altLang="ko-KR" dirty="0" smtClean="0"/>
              <a:t>DR</a:t>
            </a:r>
            <a:endParaRPr lang="ko-KR" altLang="en-US" dirty="0"/>
          </a:p>
        </p:txBody>
      </p:sp>
      <p:sp>
        <p:nvSpPr>
          <p:cNvPr id="6" name="텍스트 개체 틀 3"/>
          <p:cNvSpPr txBox="1">
            <a:spLocks/>
          </p:cNvSpPr>
          <p:nvPr/>
        </p:nvSpPr>
        <p:spPr>
          <a:xfrm>
            <a:off x="5148064" y="1119188"/>
            <a:ext cx="2862724" cy="43227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□ </a:t>
            </a:r>
            <a:r>
              <a:rPr lang="en-US" altLang="ko-KR" dirty="0" smtClean="0"/>
              <a:t>BAG FILTER</a:t>
            </a:r>
            <a:endParaRPr lang="ko-KR" altLang="en-US" dirty="0"/>
          </a:p>
        </p:txBody>
      </p:sp>
      <p:sp>
        <p:nvSpPr>
          <p:cNvPr id="8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/>
              <a:t>프로그램 주요기능</a:t>
            </a:r>
          </a:p>
          <a:p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2034047"/>
            <a:ext cx="6192688" cy="374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307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E50C4-0A3E-495D-9A95-CA3D2D0EF038}" type="slidenum">
              <a:rPr lang="ko-KR" altLang="en-US" smtClean="0"/>
              <a:t>17</a:t>
            </a:fld>
            <a:endParaRPr lang="ko-KR" altLang="en-US" dirty="0"/>
          </a:p>
        </p:txBody>
      </p:sp>
      <p:sp>
        <p:nvSpPr>
          <p:cNvPr id="5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/>
              <a:t>프로그램 주요기능</a:t>
            </a:r>
          </a:p>
          <a:p>
            <a:endParaRPr lang="ko-KR" altLang="en-US" dirty="0"/>
          </a:p>
        </p:txBody>
      </p:sp>
      <p:cxnSp>
        <p:nvCxnSpPr>
          <p:cNvPr id="6" name="직선 연결선 5"/>
          <p:cNvCxnSpPr/>
          <p:nvPr/>
        </p:nvCxnSpPr>
        <p:spPr>
          <a:xfrm>
            <a:off x="4427984" y="1119188"/>
            <a:ext cx="0" cy="52668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텍스트 개체 틀 3"/>
          <p:cNvSpPr txBox="1">
            <a:spLocks/>
          </p:cNvSpPr>
          <p:nvPr/>
        </p:nvSpPr>
        <p:spPr>
          <a:xfrm>
            <a:off x="539304" y="1119188"/>
            <a:ext cx="3240608" cy="43227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□ </a:t>
            </a:r>
            <a:r>
              <a:rPr lang="en-US" altLang="ko-KR" dirty="0" smtClean="0"/>
              <a:t>SCR</a:t>
            </a:r>
            <a:endParaRPr lang="ko-KR" altLang="en-US" dirty="0"/>
          </a:p>
        </p:txBody>
      </p:sp>
      <p:sp>
        <p:nvSpPr>
          <p:cNvPr id="8" name="텍스트 개체 틀 3"/>
          <p:cNvSpPr txBox="1">
            <a:spLocks/>
          </p:cNvSpPr>
          <p:nvPr/>
        </p:nvSpPr>
        <p:spPr>
          <a:xfrm>
            <a:off x="5060994" y="1119188"/>
            <a:ext cx="2862724" cy="43227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□ </a:t>
            </a:r>
            <a:r>
              <a:rPr lang="en-US" altLang="ko-KR" dirty="0" smtClean="0"/>
              <a:t>WET SCRUBBER</a:t>
            </a:r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5" y="1772816"/>
            <a:ext cx="4248472" cy="3256668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772816"/>
            <a:ext cx="4212247" cy="354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821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E50C4-0A3E-495D-9A95-CA3D2D0EF038}" type="slidenum">
              <a:rPr lang="ko-KR" altLang="en-US" smtClean="0"/>
              <a:t>18</a:t>
            </a:fld>
            <a:endParaRPr lang="ko-KR" altLang="en-US" dirty="0"/>
          </a:p>
        </p:txBody>
      </p:sp>
      <p:sp>
        <p:nvSpPr>
          <p:cNvPr id="5" name="텍스트 개체 틀 3"/>
          <p:cNvSpPr txBox="1">
            <a:spLocks/>
          </p:cNvSpPr>
          <p:nvPr/>
        </p:nvSpPr>
        <p:spPr>
          <a:xfrm>
            <a:off x="539304" y="1119188"/>
            <a:ext cx="3240608" cy="43227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□ </a:t>
            </a:r>
            <a:r>
              <a:rPr lang="en-US" altLang="ko-KR" dirty="0" smtClean="0"/>
              <a:t>STACK</a:t>
            </a:r>
            <a:endParaRPr lang="ko-KR" altLang="en-US" dirty="0"/>
          </a:p>
        </p:txBody>
      </p:sp>
      <p:sp>
        <p:nvSpPr>
          <p:cNvPr id="7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/>
              <a:t>프로그램 주요기능</a:t>
            </a:r>
          </a:p>
          <a:p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784" y="1551460"/>
            <a:ext cx="4042961" cy="4377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335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E50C4-0A3E-495D-9A95-CA3D2D0EF038}" type="slidenum">
              <a:rPr lang="ko-KR" altLang="en-US" smtClean="0"/>
              <a:t>19</a:t>
            </a:fld>
            <a:endParaRPr lang="ko-KR" altLang="en-US" dirty="0"/>
          </a:p>
        </p:txBody>
      </p:sp>
      <p:sp>
        <p:nvSpPr>
          <p:cNvPr id="5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/>
              <a:t>프로그램 주요기능</a:t>
            </a:r>
          </a:p>
          <a:p>
            <a:endParaRPr lang="ko-KR" altLang="en-US" dirty="0"/>
          </a:p>
        </p:txBody>
      </p:sp>
      <p:sp>
        <p:nvSpPr>
          <p:cNvPr id="6" name="텍스트 개체 틀 3"/>
          <p:cNvSpPr txBox="1">
            <a:spLocks/>
          </p:cNvSpPr>
          <p:nvPr/>
        </p:nvSpPr>
        <p:spPr>
          <a:xfrm>
            <a:off x="539304" y="1119188"/>
            <a:ext cx="5256832" cy="43227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□ </a:t>
            </a:r>
            <a:r>
              <a:rPr lang="en-US" altLang="ko-KR" dirty="0" smtClean="0"/>
              <a:t>INCINERATOR</a:t>
            </a:r>
            <a:r>
              <a:rPr lang="ko-KR" altLang="en-US" dirty="0" smtClean="0"/>
              <a:t>의 </a:t>
            </a:r>
            <a:r>
              <a:rPr lang="ko-KR" altLang="en-US" dirty="0" err="1" smtClean="0"/>
              <a:t>열정산</a:t>
            </a:r>
            <a:r>
              <a:rPr lang="ko-KR" altLang="en-US" dirty="0" smtClean="0"/>
              <a:t> 결과</a:t>
            </a:r>
            <a:endParaRPr lang="ko-KR" altLang="en-US" dirty="0"/>
          </a:p>
        </p:txBody>
      </p:sp>
      <p:cxnSp>
        <p:nvCxnSpPr>
          <p:cNvPr id="7" name="직선 연결선 6"/>
          <p:cNvCxnSpPr/>
          <p:nvPr/>
        </p:nvCxnSpPr>
        <p:spPr>
          <a:xfrm>
            <a:off x="4427984" y="1119188"/>
            <a:ext cx="0" cy="52668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/>
          <p:cNvSpPr/>
          <p:nvPr/>
        </p:nvSpPr>
        <p:spPr>
          <a:xfrm>
            <a:off x="555353" y="1516055"/>
            <a:ext cx="35846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*********************************************************************************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SOLID FUEL COMBUSTION BOILER ANALYSIS SYSTEM(SCOBA)                   VER.2.3  </a:t>
            </a:r>
            <a:endParaRPr lang="ko-KR" altLang="en-US" sz="600" dirty="0"/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*********************************************************************************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PROJECT NAME : 5.2T/H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소각보일러 표준 경제성분석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CLIENT       :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씨엔디테크주식회사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1. COMBUSTION FURNACE AND BOILER SYSTEM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&lt;FUEL COMPOSITION&gt;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---------------------------------------------------------------------------------</a:t>
            </a:r>
            <a:endParaRPr lang="ko-KR" altLang="en-US" sz="600" dirty="0"/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NO      WATER    ASH      C       H       O       N       S      CL      WEIGHT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---------------------------------------------------------------------------------</a:t>
            </a:r>
            <a:endParaRPr lang="ko-KR" altLang="en-US" sz="600" dirty="0"/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1     15.00    4.50   50.23    6.76   21.53    1.11    0.11    0.76     4,000</a:t>
            </a:r>
            <a:endParaRPr lang="ko-KR" altLang="en-US" sz="600" dirty="0"/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2      0.00    0.00    0.00    0.00    0.00    0.00    0.00    0.00         0</a:t>
            </a:r>
            <a:endParaRPr lang="ko-KR" altLang="en-US" sz="600" dirty="0"/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3      0.00    0.00    0.00    0.00    0.00    0.00    0.00    0.00         0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---------------------------------------------------------------------------------</a:t>
            </a:r>
            <a:endParaRPr lang="ko-KR" altLang="en-US" sz="600" dirty="0"/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TOT    15.00    4.50   50.23    6.76   21.53    1.11    0.11    0.76     4,000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---------------------------------------------------------------------------------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&lt;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발열량 및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연소공기량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&gt;</a:t>
            </a:r>
            <a:endParaRPr lang="ko-KR" altLang="en-US" sz="600" dirty="0"/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고위발열량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(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Hh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)               :     5,454.76 kcal/kg</a:t>
            </a:r>
            <a:endParaRPr lang="ko-KR" altLang="en-US" sz="600" dirty="0"/>
          </a:p>
          <a:p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저위발열량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(Hl)               :     4,999.72 kcal/kg</a:t>
            </a:r>
            <a:endParaRPr lang="ko-KR" altLang="en-US" sz="600" dirty="0"/>
          </a:p>
          <a:p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이론공기량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(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Ao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)               :         5.56 Nm3/kg</a:t>
            </a:r>
            <a:endParaRPr lang="ko-KR" altLang="en-US" sz="600" dirty="0"/>
          </a:p>
          <a:p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실제공기량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(A)                :        11.52 Nm3/kg</a:t>
            </a:r>
            <a:endParaRPr lang="ko-KR" altLang="en-US" sz="600" dirty="0"/>
          </a:p>
          <a:p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공기비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(m)                    :        2.07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&lt;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연소용공기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&gt;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1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차 연소공기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 25,348.48 Nm3/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hr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 55.00 %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2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차 연소공기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 20,739.67 Nm3/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hr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 45.00 %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&lt;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연소실발생가스량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 계산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&gt;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[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연소생성가스량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]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CO2                          :           0.938 Nm3/kg        7.655 %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O2                           :           1.253 Nm3/kg       10.227 %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N2                           :           9.111 Nm3/kg       74.370 %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H2O                          :           0.944 Nm3/kg        7.703 %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SO2                          :         0.00077 Nm3/kg        0.006 %</a:t>
            </a:r>
            <a:endParaRPr lang="ko-KR" altLang="en-US" sz="600" dirty="0"/>
          </a:p>
          <a:p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Hcl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      :         0.00479 Nm3/kg        0.039 %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TOTAL                        :          12.251 Nm3/kg      100.000 %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[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실제발생가스량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]</a:t>
            </a:r>
            <a:endParaRPr lang="ko-KR" altLang="en-US" sz="600" dirty="0"/>
          </a:p>
          <a:p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발생가스량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 49,005.36 Nm3/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hr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&lt;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연소실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열정산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&gt;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[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입    열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]</a:t>
            </a:r>
            <a:endParaRPr lang="ko-KR" altLang="en-US" sz="600" dirty="0"/>
          </a:p>
          <a:p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연료보유현열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 32,040 kcal/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hr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</a:t>
            </a:r>
            <a:endParaRPr lang="ko-KR" altLang="en-US" sz="600" dirty="0"/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연료발열량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 19,998,860 kcal/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hr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</a:t>
            </a:r>
            <a:endParaRPr lang="ko-KR" altLang="en-US" sz="600" dirty="0"/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연소공기 현열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 1,714,479 kcal/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hr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</a:t>
            </a:r>
            <a:endParaRPr lang="ko-KR" altLang="en-US" sz="600" dirty="0"/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순환공기 현열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     0 kcal/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hr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</a:t>
            </a:r>
            <a:endParaRPr lang="ko-KR" altLang="en-US" sz="600" dirty="0"/>
          </a:p>
          <a:p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입열총계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 21,745,380 kcal/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hr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[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출    열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]</a:t>
            </a:r>
            <a:endParaRPr lang="ko-KR" altLang="en-US" sz="600" dirty="0"/>
          </a:p>
          <a:p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노벽방산열량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 326,181 kcal/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hr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</a:t>
            </a:r>
            <a:endParaRPr lang="ko-KR" altLang="en-US" sz="600" dirty="0"/>
          </a:p>
          <a:p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미연소폐기물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연소열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 162,000 kcal/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hr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</a:t>
            </a:r>
            <a:endParaRPr lang="ko-KR" altLang="en-US" sz="600" dirty="0"/>
          </a:p>
          <a:p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소각재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 보유열량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 13,642 kcal/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hr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</a:t>
            </a:r>
            <a:endParaRPr lang="ko-KR" altLang="en-US" sz="600" dirty="0"/>
          </a:p>
          <a:p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비산재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 보유열량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 3,420 kcal/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hr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</a:t>
            </a:r>
            <a:endParaRPr lang="ko-KR" altLang="en-US" sz="600" dirty="0"/>
          </a:p>
          <a:p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배가스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 보유열량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 18,152,980 kcal/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hr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CAVITY TUBE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흡수열량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 1,999,886 kcal/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hr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</a:t>
            </a:r>
            <a:endParaRPr lang="ko-KR" altLang="en-US" sz="600" dirty="0"/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기타손실  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 1,087,269 kcal/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hr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</a:t>
            </a:r>
            <a:endParaRPr lang="ko-KR" altLang="en-US" sz="600" dirty="0"/>
          </a:p>
          <a:p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출열총계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 21,745,380 kcal/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hr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</a:t>
            </a:r>
            <a:endParaRPr lang="ko-KR" altLang="en-US" sz="600" dirty="0">
              <a:effectLst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5076056" y="1499972"/>
            <a:ext cx="3357329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&lt;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바닥재 배출량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&gt;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연소로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ASH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발생량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   170.526 kg/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hr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보일러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ASH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발생량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     1.800 kg/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hr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&lt;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보일러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열수지계산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&gt;</a:t>
            </a:r>
            <a:endParaRPr lang="ko-KR" altLang="en-US" sz="600" dirty="0"/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입    열    량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 20,152,870.0 kcal/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hr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</a:t>
            </a:r>
            <a:endParaRPr lang="ko-KR" altLang="en-US" sz="600" dirty="0"/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출    열    량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보일러 방사열량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 363,059.6 kcal/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hr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배가스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출열량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 5,665,281.0 kcal/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hr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보일러 회수가능열량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 14,124,530.0 kcal/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hr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ECONOMIZWE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회수가능열량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 1,385,059.0 kcal/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hr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&lt;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보일러 선정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&gt;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인입배가스량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 49,005.36 Nm3/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hr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배가스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인입온도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 1,037.79 C  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배가스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 출구온도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   350.00 C  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ECONOMIZER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입구온도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(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급수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)  :            130.00 C  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ECONOMIZER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출구온도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(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급수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)  :            181.42 C   SAT T  234.6 C 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증기생산량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(MCR)          :         26,407.25 kg/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hr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증기생산압력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   31.03 kg/cm2.a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증기생산온도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  300.00 C  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보일러 효율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    77.25 %  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연료소비율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   151.47 kg(f)/TON(S)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&lt;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연소실 선정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&gt;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- 1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차연소실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 용적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   133.95 m3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- 2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차연소실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 용적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   130.72 m3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화상면적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    28.57 m2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&lt;Default Data&gt;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2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차공기비율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45 %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1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차공기온도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120 C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FLY ASH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비산율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10 %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FLY ASH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배출온도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950 C</a:t>
            </a:r>
            <a:endParaRPr lang="ko-KR" altLang="en-US" sz="600" dirty="0"/>
          </a:p>
          <a:p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소각잔사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 배출온도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400 C</a:t>
            </a:r>
            <a:endParaRPr lang="ko-KR" altLang="en-US" sz="600" dirty="0"/>
          </a:p>
          <a:p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노벽방산열량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(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출입열의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)       : 1.5 %</a:t>
            </a:r>
            <a:endParaRPr lang="ko-KR" altLang="en-US" sz="600" dirty="0"/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보일러방산열량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2 %</a:t>
            </a:r>
            <a:endParaRPr lang="ko-KR" altLang="en-US" sz="600" dirty="0"/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보일러하부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배출율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10 %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ECONOMIZER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방산열량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2 %</a:t>
            </a:r>
            <a:endParaRPr lang="ko-KR" altLang="en-US" sz="600" dirty="0"/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기타손실  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5 %</a:t>
            </a:r>
            <a:endParaRPr lang="ko-KR" altLang="en-US" sz="600" dirty="0"/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순환공기온도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157 C</a:t>
            </a:r>
            <a:endParaRPr lang="ko-KR" altLang="en-US" sz="600" dirty="0"/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보일러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DRAIN                 : 2 %</a:t>
            </a:r>
            <a:endParaRPr lang="ko-KR" altLang="en-US" sz="600" dirty="0"/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수분비열  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1 kcal/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kg.C</a:t>
            </a:r>
            <a:endParaRPr lang="ko-KR" altLang="en-US" sz="600" dirty="0"/>
          </a:p>
          <a:p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가연분비열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0.3 kcal/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kg.C</a:t>
            </a:r>
            <a:endParaRPr lang="ko-KR" altLang="en-US" sz="600" dirty="0"/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회분비열  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0.2 kcal/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kg.C</a:t>
            </a:r>
            <a:endParaRPr lang="ko-KR" altLang="en-US" sz="600" dirty="0"/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착화온도  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300 C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2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차공기온도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120 C</a:t>
            </a:r>
            <a:endParaRPr lang="ko-KR" altLang="en-US" sz="600" dirty="0"/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연료온도  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20 C</a:t>
            </a:r>
            <a:endParaRPr lang="ko-KR" altLang="en-US" sz="600" dirty="0"/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대기온도  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20 C</a:t>
            </a:r>
            <a:endParaRPr lang="ko-KR" altLang="en-US" sz="600" dirty="0"/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가스체류시간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2 sec</a:t>
            </a:r>
            <a:endParaRPr lang="ko-KR" altLang="en-US" sz="600" dirty="0"/>
          </a:p>
          <a:p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강열감량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5 %</a:t>
            </a:r>
            <a:endParaRPr lang="ko-KR" altLang="en-US" sz="600" dirty="0"/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불완전연소율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0.6 %</a:t>
            </a:r>
            <a:endParaRPr lang="ko-KR" altLang="en-US" sz="600" dirty="0"/>
          </a:p>
          <a:p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연소실부하율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160000 kcal/m3.h</a:t>
            </a:r>
            <a:endParaRPr lang="ko-KR" altLang="en-US" sz="600" dirty="0"/>
          </a:p>
          <a:p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화상부하율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140 kg/m2</a:t>
            </a:r>
            <a:endParaRPr lang="ko-KR" altLang="en-US" sz="600" dirty="0"/>
          </a:p>
          <a:p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화상연료투입율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100 %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&lt;Calculation Data&gt;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USER                         : Temporary User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SERIAL NO                    : 20170001</a:t>
            </a:r>
            <a:endParaRPr lang="ko-KR" altLang="en-US" sz="600" dirty="0"/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CALCULATED TIME : 2017-06-13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오후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1:37:34</a:t>
            </a:r>
            <a:endParaRPr lang="ko-KR" altLang="en-US" sz="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14695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E50C4-0A3E-495D-9A95-CA3D2D0EF038}" type="slidenum">
              <a:rPr lang="ko-KR" altLang="en-US" smtClean="0"/>
              <a:t>20</a:t>
            </a:fld>
            <a:endParaRPr lang="ko-KR" altLang="en-US" dirty="0"/>
          </a:p>
        </p:txBody>
      </p:sp>
      <p:sp>
        <p:nvSpPr>
          <p:cNvPr id="5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395536" y="404664"/>
            <a:ext cx="6769100" cy="432048"/>
          </a:xfrm>
        </p:spPr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/>
              <a:t>프로그램 주요기능</a:t>
            </a:r>
          </a:p>
          <a:p>
            <a:endParaRPr lang="ko-KR" altLang="en-US" dirty="0"/>
          </a:p>
        </p:txBody>
      </p:sp>
      <p:sp>
        <p:nvSpPr>
          <p:cNvPr id="6" name="텍스트 개체 틀 3"/>
          <p:cNvSpPr txBox="1">
            <a:spLocks/>
          </p:cNvSpPr>
          <p:nvPr/>
        </p:nvSpPr>
        <p:spPr>
          <a:xfrm>
            <a:off x="539552" y="1124744"/>
            <a:ext cx="5256832" cy="36548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□ 환경설비 </a:t>
            </a:r>
            <a:r>
              <a:rPr lang="ko-KR" altLang="en-US" dirty="0" err="1" smtClean="0"/>
              <a:t>열정산</a:t>
            </a:r>
            <a:r>
              <a:rPr lang="ko-KR" altLang="en-US" dirty="0" smtClean="0"/>
              <a:t> 결과 </a:t>
            </a:r>
            <a:r>
              <a:rPr lang="en-US" altLang="ko-KR" dirty="0" smtClean="0"/>
              <a:t>(</a:t>
            </a:r>
            <a:r>
              <a:rPr lang="en-US" altLang="ko-KR" dirty="0" smtClean="0"/>
              <a:t>1/4)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673169" y="1470464"/>
            <a:ext cx="3312368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*********************************************************************************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SOLID FUEL COMBUSTION BOILER ANALYSIS SYSTEM(SCOBA)                   VER.2.3  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*********************************************************************************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PROJECT NAME : 5.2T/H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소각보일러 표준 경제성분석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CLIENT       :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씨엔디테크주식회사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2. AIR POLLUTION PREVENTION SYSTEM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&lt;EQUIPMENT&gt;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1.SNCR(UREA)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2.AIR PREHEATER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3.CYCLONE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4.SDR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5.DR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6.BAG FILTER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7.SCR(NH3)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8.WET SCRUBBER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9.STACK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&lt;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설계기준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&gt;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NOx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배출계수 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  3.32 kg/TON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DUST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배출계수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  5.53 kg/TON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DIOXIN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배출계수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 10,141.00 ng-TEQ/TON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보일러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DUST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제거효율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 10.00 %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&lt;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인입가스량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&gt;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유    량  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 49,005.36 Nm3/h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온    도  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 260.00 C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Cp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       :         0.3270 kcal/C.Nm3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조    성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CO2                          :       3,751.18 Nm3/h  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O2                           :       5,011.92 Nm3/h  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N2                           :      36,445.16 Nm3/h  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H2O                          :       3,774.88 Nm3/h  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SO2                          :           3.08 Nm3/h  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Hcl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      :          19.15 Nm3/h   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TOTAL                        :      49,005.36 Nm3/h  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오염물질농도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CO                           :          22.57 ppm(12) dry base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NOX                          :         129.80 ppm(12) dry base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SOX                          :          61.79 ppm(12) dry base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HCl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      :         384.19 ppm(12) dry base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DUST                         :         399.36 mg/Sm3(12) dry base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DIOXIN                       :           0.90 ng-TEQ/Sm3(12) dry </a:t>
            </a:r>
            <a:r>
              <a:rPr lang="en-US" altLang="ko-KR" sz="600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base</a:t>
            </a:r>
          </a:p>
          <a:p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&lt; SNCR(Selective Non-Catalytic Reduction) &gt;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[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설계기준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]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NOX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제거효율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 70.00 %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당량비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(NRS)                   :          2.00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요소수사용농도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 40.00 %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[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계산결과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]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출구가스유량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 49,005.36 Nm3/h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출구가스온도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 950.00 C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Cp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       :         0.3537 kcal/C.Nm3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요소수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 사용량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 30.33 kg/h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출구가스조성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CO2                          :       3,751.18 Nm3/h  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O2                           :       5,011.92 Nm3/h  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N2                           :      36,445.16 Nm3/h  </a:t>
            </a:r>
            <a:endParaRPr lang="en-US" altLang="ko-KR" sz="600" dirty="0">
              <a:effectLst/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4885779" y="1382110"/>
            <a:ext cx="3312368" cy="4985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H2O                          :       3,774.88 Nm3/h  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SO2                          :           3.08 Nm3/h  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Hcl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      :          19.15 Nm3/h   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TOTAL                        :      49,005.36 Nm3/h  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오염물질농도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CO                           :          22.57 ppm(12) dry base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NOX                          :          38.94 ppm(12) dry base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SOX                          :          61.79 ppm(12) dry base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HCl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      :         384.19 ppm(12) dry base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DUST                         :         443.73 mg/Sm3(12) dry base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DIOXIN                       :           0.90 ng-TEQ/Sm3(12) dry base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[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기기선정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]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저장탱크 용량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  8.22 m3 (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유효용량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:80.0</a:t>
            </a:r>
            <a:r>
              <a:rPr lang="en-US" altLang="ko-KR" sz="600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%)</a:t>
            </a:r>
          </a:p>
          <a:p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&lt; AIR PREHEATER &gt;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[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설계기준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]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인입공기온도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(1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차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)             :          60.00 C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출구공기온도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(1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차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)             :         120.00 C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인입공기온도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(2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차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)             :          60.00 C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출구공기온도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(2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차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)             :         120.00 C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[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계산결과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]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Air Preheater(1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차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)           :      471,481.7 kcal/h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Air Preheater(2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차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)           :      385,757.9 kcal/h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Steam Air Heater(1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차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)        :      314,321.2 kcal/h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Steam Air Heater(2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차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)        :      257,171.9 kcal/h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출구가스유량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 49,005.36 Nm3/h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출구가스온도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 199.98 C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Cp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       :         0.3250 kcal/C.Nm3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출구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덕트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 직경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 1,549.9 mm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&lt; CYCLONE &gt;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[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설계기준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]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DUST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제거효율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 60.00 %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열손실율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  2.50 %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[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계산결과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]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출구가스유량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 49,005.36 Nm3/h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출구가스온도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 195.08 C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Cp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       :         0.3248 kcal/C.Nm3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ASH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발생량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  12.9 kg/h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출구가스조성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CO2                          :       3,751.18 Nm3/h  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O2                           :       5,011.92 Nm3/h  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N2                           :      36,445.16 Nm3/h  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H2O                          :       3,774.88 Nm3/h  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SO2                          :           3.08 Nm3/h  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Hcl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      :          19.15 Nm3/h   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TOTAL                        :      49,005.36 Nm3/h  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오염물질농도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CO                           :          22.57 ppm(12) dry base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NOX                          :          38.94 ppm(12) dry base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SOX                          :          61.79 ppm(12) dry base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HCl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      :         384.19 ppm(12) dry base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DUST                         :         159.74 mg/Sm3(12) dry base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DIOXIN                       :           0.90 ng-TEQ/Sm3(12) dry </a:t>
            </a:r>
            <a:r>
              <a:rPr lang="en-US" altLang="ko-KR" sz="600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base</a:t>
            </a:r>
            <a:endParaRPr lang="en-US" altLang="ko-KR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4427984" y="1119188"/>
            <a:ext cx="0" cy="52668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2440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E50C4-0A3E-495D-9A95-CA3D2D0EF038}" type="slidenum">
              <a:rPr lang="ko-KR" altLang="en-US" smtClean="0"/>
              <a:t>21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755576" y="1502987"/>
            <a:ext cx="3312368" cy="4985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[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기기선정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]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인입풍량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 424.52 Am3/min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입구면적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(A)                 :           0.37 m2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입구높이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(a)                 :           0.96 m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입구높이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(b)                 :           0.39 m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외통  경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(D)                 :           1.54 m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외통길이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(L)                 :           1.70 m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내통  경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(d)                 :           0.67 m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원추부길이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(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Hc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)              :           3.09 m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분진유출경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(d1)              :           0.31 m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출구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덕트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 직경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 1,541.9 </a:t>
            </a:r>
            <a:r>
              <a:rPr lang="en-US" altLang="ko-KR" sz="600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mm</a:t>
            </a:r>
          </a:p>
          <a:p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&lt; SDR(Semi-Dry Reactor &gt;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[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설계기준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]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SO2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제거효율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 80.00 %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Hcl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제거효율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 95.00 %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DUST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제거효율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 30.00 %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액상소석회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 사용농도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 20.00 %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당량비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(NRS)                   :           2.00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열손실율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  2.50 %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[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계산결과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]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출구가스유량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 49,721.59 Nm3/h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출구가스온도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 165.00 C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Cp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       :         0.3243 kcal/C.Nm3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물분사량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 575.5364 kg/h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액상소석회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 사용량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 381.93 kg/h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ASH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발생량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  42.8 kg/h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출구가스조성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CO2                          :       3,751.18 Nm3/h  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O2                           :       5,011.92 Nm3/h  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N2                           :      36,445.16 Nm3/h  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H2O                          :       4,491.10 Nm3/h  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SO2                          :           3.08 Nm3/h  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Hcl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      :          19.15 Nm3/h   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TOTAL                        :      49,721.59 Nm3/h  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오염물질농도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CO                           :          22.57 ppm(12) dry base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NOX                          :          38.94 ppm(12) dry base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SOX                          :          12.36 ppm(12) dry base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HCl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      :          19.21 ppm(12) dry base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DUST                         :       1,466.51 mg/Sm3(12) dry base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DIOXIN                       :           0.90 ng-TEQ/Sm3(12) dry base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[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기기선정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]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인입풍량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 1,680.47 Am3/min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입구직경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(d)                 :           1.37 m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본체직경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(D)                 :           5.24 m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본체유효높이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(h1)            :          14.95 m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호퍼높이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(h2,+h3)            :           5.55 m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지면에서의 높이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(h4)         :           3.00 m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SDR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토출관경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(h5)          :            1.5 m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전체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SDR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전체높이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 25.07 m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출구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덕트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 직경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 1,502.4 mm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소석회슬러리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 탱크용량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 91.70 m3 (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유효용량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:80.0</a:t>
            </a:r>
            <a:r>
              <a:rPr lang="en-US" altLang="ko-KR" sz="600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%)</a:t>
            </a:r>
          </a:p>
        </p:txBody>
      </p:sp>
      <p:sp>
        <p:nvSpPr>
          <p:cNvPr id="7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/>
              <a:t>프로그램 주요기능</a:t>
            </a:r>
          </a:p>
          <a:p>
            <a:endParaRPr lang="ko-KR" altLang="en-US" dirty="0"/>
          </a:p>
        </p:txBody>
      </p:sp>
      <p:sp>
        <p:nvSpPr>
          <p:cNvPr id="8" name="텍스트 개체 틀 3"/>
          <p:cNvSpPr txBox="1">
            <a:spLocks/>
          </p:cNvSpPr>
          <p:nvPr/>
        </p:nvSpPr>
        <p:spPr>
          <a:xfrm>
            <a:off x="539552" y="1124744"/>
            <a:ext cx="5256832" cy="36548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□ 환경설비 </a:t>
            </a:r>
            <a:r>
              <a:rPr lang="ko-KR" altLang="en-US" dirty="0" err="1" smtClean="0"/>
              <a:t>열정산</a:t>
            </a:r>
            <a:r>
              <a:rPr lang="ko-KR" altLang="en-US" dirty="0" smtClean="0"/>
              <a:t> 결과 </a:t>
            </a:r>
            <a:r>
              <a:rPr lang="en-US" altLang="ko-KR" dirty="0" smtClean="0"/>
              <a:t>(</a:t>
            </a:r>
            <a:r>
              <a:rPr lang="en-US" altLang="ko-KR" dirty="0" smtClean="0"/>
              <a:t>2/4)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4831848" y="1412776"/>
            <a:ext cx="3312368" cy="4985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&lt; DRY DRACTOR &gt;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[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설계기준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]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SO2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제거효율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  30.00 %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Hcl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제거효율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  40.00 %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DIOXIN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제거효율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  95.00 %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분말소석회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당량비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(NRS)        :           1.50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활성탄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당량비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(NRS)            :           1.50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활성탄주입기준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 300.00 mg/Sm3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[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계산결과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]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출구가스유량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 49,721.59 Nm3/h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출구가스온도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 165.00 C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Cp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       :         0.3243 kcal/C.Nm3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분말소석회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 주입량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 1.8648 kg/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hr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활성탄 주입량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 20.3537 kg/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hr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출구가스조성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CO2                          :       3,751.18 Nm3/h  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O2                           :       5,011.92 Nm3/h  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N2                           :      36,445.16 Nm3/h  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H2O                          :       4,491.10 Nm3/h  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SO2                          :           3.08 Nm3/h  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Hcl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      :          19.15 Nm3/h   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TOTAL                        :      49,721.59 Nm3/h  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오염물질농도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CO                           :          22.57 ppm(12) dry base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NOX                          :          38.94 ppm(12) dry base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SOX                          :           8.65 ppm(12) dry base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HCl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      :          11.53 ppm(12) dry base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DUST                         :       1,932.42 mg/Sm3(12) dry base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DIOXIN                       :           0.04 ng-TEQ/Sm3(12) dry base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[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기기선정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]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인입풍량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 1,595.46 Am3/min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Throttle DIA.                :           1.16 m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출구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덕트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 직경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 1,502.4 mm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분말소석회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 저장탱크용량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  1.40 m3 (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유효용량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:80.0%)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분말활성탄 저장탱크용량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  4.88 m3 (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유효용량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:80.0</a:t>
            </a:r>
            <a:r>
              <a:rPr lang="en-US" altLang="ko-KR" sz="600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%)</a:t>
            </a:r>
          </a:p>
          <a:p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&lt; BAG FILTER &gt;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[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설계기준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]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DUST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제거효율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 99.50 %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방사열량   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  4.50 %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[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계산결과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]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출구가스유량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 49,721.59 Nm3/h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출구가스온도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 157.69 C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Cp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       :         0.3241 kcal/C.Nm3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ASH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발생량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  21.4 kg/h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출구가스조성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CO2                          :       3,751.18 Nm3/h  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O2                           :       5,011.92 Nm3/h  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N2                           :      36,445.16 Nm3/h  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H2O                          :       4,491.10 Nm3/h  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SO2                          :           3.08 Nm3/h  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Hcl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      :          19.15 Nm3/h   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TOTAL                        :      49,721.59 Nm3/h  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  <p:cxnSp>
        <p:nvCxnSpPr>
          <p:cNvPr id="10" name="직선 연결선 9"/>
          <p:cNvCxnSpPr/>
          <p:nvPr/>
        </p:nvCxnSpPr>
        <p:spPr>
          <a:xfrm>
            <a:off x="4427984" y="1119188"/>
            <a:ext cx="0" cy="52668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1956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E50C4-0A3E-495D-9A95-CA3D2D0EF038}" type="slidenum">
              <a:rPr lang="ko-KR" altLang="en-US" smtClean="0"/>
              <a:t>22</a:t>
            </a:fld>
            <a:endParaRPr lang="ko-KR" altLang="en-US" dirty="0"/>
          </a:p>
        </p:txBody>
      </p:sp>
      <p:sp>
        <p:nvSpPr>
          <p:cNvPr id="5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/>
              <a:t>프로그램 주요기능</a:t>
            </a:r>
          </a:p>
          <a:p>
            <a:endParaRPr lang="ko-KR" altLang="en-US" dirty="0"/>
          </a:p>
        </p:txBody>
      </p:sp>
      <p:sp>
        <p:nvSpPr>
          <p:cNvPr id="6" name="텍스트 개체 틀 3"/>
          <p:cNvSpPr txBox="1">
            <a:spLocks/>
          </p:cNvSpPr>
          <p:nvPr/>
        </p:nvSpPr>
        <p:spPr>
          <a:xfrm>
            <a:off x="539552" y="1124744"/>
            <a:ext cx="5256832" cy="36548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□ 환경설비 </a:t>
            </a:r>
            <a:r>
              <a:rPr lang="ko-KR" altLang="en-US" dirty="0" err="1" smtClean="0"/>
              <a:t>열정산</a:t>
            </a:r>
            <a:r>
              <a:rPr lang="ko-KR" altLang="en-US" dirty="0" smtClean="0"/>
              <a:t> 결과 </a:t>
            </a:r>
            <a:r>
              <a:rPr lang="en-US" altLang="ko-KR" dirty="0" smtClean="0"/>
              <a:t>(</a:t>
            </a:r>
            <a:r>
              <a:rPr lang="en-US" altLang="ko-KR" dirty="0" smtClean="0"/>
              <a:t>3/4)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755576" y="1476156"/>
            <a:ext cx="3312368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오염물질농도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CO                           :          22.57 ppm(12) dry base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NOX                          :          38.94 ppm(12) dry base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SOX                          :           8.65 ppm(12) dry base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HCl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      :          11.53 ppm(12) dry base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DUST                         :           9.66 mg/Sm3(12) dry base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DIOXIN                       :           0.04 ng-TEQ/Sm3(12) dry base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[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기기선정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]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인입풍량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 1,595.46 Am3/min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여과면적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(A)                 :       2,279.23 m2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여과포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 수량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   930 EA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출구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덕트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 직경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 1,489.8 </a:t>
            </a:r>
            <a:r>
              <a:rPr lang="en-US" altLang="ko-KR" sz="600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mm</a:t>
            </a:r>
          </a:p>
          <a:p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&lt; SCR(Selective Catalytic Reduction) &gt;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[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설계기준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]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Heater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출구온도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 250.00 C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Heater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방사열량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  1.00 %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No2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제거효율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 90.00 %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DIOXIN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제거효율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 40.00 %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SCR   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방사열량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  2.00 %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암모니아사용농도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 25.00 %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당량비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(NRS)                   :           1.80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[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계산결과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]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출구가스유량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 49,730.50 Nm3/h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출구가스온도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 244.74 C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Cp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       :         0.3271 kcal/C.Nm3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암모니아 사용량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  9.55 kg/h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HEATER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가열량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 1,541,831.00 kcal/h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출구가스조성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CO2                          :       3,751.18 Nm3/h  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O2                           :       5,011.92 Nm3/h  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N2                           :      36,445.16 Nm3/h  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H2O                          :       4,500.01 Nm3/h  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SO2                          :           3.08 Nm3/h  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Hcl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      :          19.15 Nm3/h   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TOTAL                        :      49,730.50 Nm3/h  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오염물질농도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CO                           :          22.57 ppm(12) dry base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NOX                          :           3.89 ppm(12) dry base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SOX                          :           8.65 ppm(12) dry base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HCl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      :          11.53 ppm(12) dry base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DUST                         :           9.66 mg/Sm3(12) dry base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DIOXIN                       :           0.03 ng-TEQ/Sm3(12) dry base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[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기기선정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]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인입풍량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 1,905.08 Am3/min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HEATER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용량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 1,541,831.00 kcal/h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촉매량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 12.70 m3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출구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덕트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 직경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 1,633.6 mm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NH3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탱크용량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  2.69 m3 (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유효용량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:80.0</a:t>
            </a:r>
            <a:r>
              <a:rPr lang="en-US" altLang="ko-KR" sz="600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%)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4427984" y="1119188"/>
            <a:ext cx="0" cy="52668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4984997" y="1314524"/>
            <a:ext cx="3312368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&lt; WET SCRUBBER &gt;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[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설계기준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]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SO2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제거효율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 90.00 %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Hcl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제거효율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 90.00 %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DUST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제거효율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 50.00 %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NaOH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사용농도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 40.00 %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당량비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(NRS)                   :           1.50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열손실율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  2.50 %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액기비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  2.50  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[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계산결과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]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출구가스유량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 55,729.70 Nm3/h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출구가스온도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 50.00 C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Cp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       :         0.3245 kcal/C.Nm3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증발수량  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 4,820.79 kg/h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NaOH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사용량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  8.66 kg/h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순환수량  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 147,084.10 kg/h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폐수발생량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 85.81 kg/h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출구가스조성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CO2                          :       3,751.18 Nm3/h  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O2                           :       5,011.92 Nm3/h  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N2                           :      36,445.16 Nm3/h  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H2O                          :      10,499.22 Nm3/h  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SO2                          :           3.08 Nm3/h  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Hcl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      :          19.15 Nm3/h   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TOTAL                        :      55,729.70 Nm3/h  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오염물질농도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CO                           :          22.57 ppm(12) dry base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NOX                          :           3.89 ppm(12) dry base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SOX                          :           0.86 ppm(12) dry base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HCl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      :           1.15 ppm(12) dry base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DUST                         :           4.83 mg/Sm3(12) dry base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DIOXIN                       :           0.03 ng-TEQ/Sm3(12) dry base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[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기기선정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]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인입풍량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 1,886.27 Am3/min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입구덕트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 직경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  1.63 m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본체직경  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  6.33 m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출구덕트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 직경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  1.29 </a:t>
            </a:r>
            <a:r>
              <a:rPr lang="en-US" altLang="ko-KR" sz="600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m</a:t>
            </a:r>
          </a:p>
          <a:p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&lt; STACK &gt;</a:t>
            </a:r>
            <a:endParaRPr lang="ko-KR" altLang="en-US" sz="600" dirty="0" smtClean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오염물질농도</a:t>
            </a:r>
          </a:p>
          <a:p>
            <a:r>
              <a:rPr lang="ko-KR" altLang="en-US" sz="600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CO                           :          22.57 ppm(12) dry base</a:t>
            </a:r>
            <a:endParaRPr lang="ko-KR" altLang="en-US" sz="600" dirty="0" smtClean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NOX                          :           3.89 ppm(12) dry base</a:t>
            </a:r>
            <a:endParaRPr lang="ko-KR" altLang="en-US" sz="600" dirty="0" smtClean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SOX                          :           0.86 ppm(12) dry base</a:t>
            </a:r>
            <a:endParaRPr lang="ko-KR" altLang="en-US" sz="600" dirty="0" smtClean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 err="1" smtClean="0">
                <a:latin typeface="굴림체" panose="020B0609000101010101" pitchFamily="49" charset="-127"/>
                <a:ea typeface="굴림체" panose="020B0609000101010101" pitchFamily="49" charset="-127"/>
              </a:rPr>
              <a:t>HCl</a:t>
            </a:r>
            <a:r>
              <a:rPr lang="en-US" altLang="ko-KR" sz="600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      :           1.15 ppm(12) dry base</a:t>
            </a:r>
            <a:endParaRPr lang="ko-KR" altLang="en-US" sz="600" dirty="0" smtClean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DUST                         :           4.83 mg/Sm3(12) dry base</a:t>
            </a:r>
            <a:endParaRPr lang="ko-KR" altLang="en-US" sz="600" dirty="0" smtClean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DIOXIN                       :           0.03 ng-TEQ/Sm3(12) dry base</a:t>
            </a:r>
            <a:endParaRPr lang="ko-KR" altLang="en-US" sz="600" dirty="0" smtClean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[</a:t>
            </a:r>
            <a:r>
              <a:rPr lang="ko-KR" altLang="en-US" sz="600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기기선정</a:t>
            </a:r>
            <a:r>
              <a:rPr lang="en-US" altLang="ko-KR" sz="600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]</a:t>
            </a:r>
            <a:endParaRPr lang="ko-KR" altLang="en-US" sz="600" dirty="0" smtClean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ko-KR" altLang="en-US" sz="600" dirty="0" err="1" smtClean="0">
                <a:latin typeface="굴림체" panose="020B0609000101010101" pitchFamily="49" charset="-127"/>
                <a:ea typeface="굴림체" panose="020B0609000101010101" pitchFamily="49" charset="-127"/>
              </a:rPr>
              <a:t>인입풍량</a:t>
            </a:r>
            <a:r>
              <a:rPr lang="ko-KR" altLang="en-US" sz="600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 </a:t>
            </a:r>
            <a:r>
              <a:rPr lang="en-US" altLang="ko-KR" sz="600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:       1,318.73 Am3/min</a:t>
            </a:r>
            <a:endParaRPr lang="ko-KR" altLang="en-US" sz="600" dirty="0" smtClean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STACK </a:t>
            </a:r>
            <a:r>
              <a:rPr lang="ko-KR" altLang="en-US" sz="600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하부 직경              </a:t>
            </a:r>
            <a:r>
              <a:rPr lang="en-US" altLang="ko-KR" sz="600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:           1.41 m</a:t>
            </a:r>
            <a:endParaRPr lang="ko-KR" altLang="en-US" sz="600" dirty="0" smtClean="0"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1645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E50C4-0A3E-495D-9A95-CA3D2D0EF038}" type="slidenum">
              <a:rPr lang="ko-KR" altLang="en-US" smtClean="0"/>
              <a:t>23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683568" y="1628800"/>
            <a:ext cx="345638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&lt;Default Data&gt;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SNCR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저장일수  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10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일</a:t>
            </a: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CYCLONE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UNIT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수량 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4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대</a:t>
            </a: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유입속도  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19 m/s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SDR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유입속도  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19 m/s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통과유속  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1.3 m/s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체류시간  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11.5 sec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DELUMP DIA                   : 1.2 m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지면에서의 높이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3 m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소석회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 저장일수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9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일</a:t>
            </a: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DRY REACTOR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Throt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속도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25 m/s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분말소석회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 저장일수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15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일</a:t>
            </a: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분말활성탄 저장일수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4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일</a:t>
            </a: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BAG FILTER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여과속도  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0.7 m/min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여과포규격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156 mm(DIA) x 5000 mm(LENGTH)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SCR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촉매공간속도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9000 /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hr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요소수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 저장일수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10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일</a:t>
            </a: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SCR(NH3)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촉매공간속도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9000 /</a:t>
            </a:r>
            <a:r>
              <a:rPr lang="en-US" altLang="ko-KR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hr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NH3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저장일수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10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일</a:t>
            </a: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WET SCRUBBER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통과유속  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1 m/s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STACK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연돌유속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14 m/s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-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기  타</a:t>
            </a: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안전율    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20 %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유효탱크용량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80 %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 </a:t>
            </a:r>
            <a:r>
              <a:rPr lang="ko-KR" altLang="en-US" sz="600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덕트유속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                    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: 15 </a:t>
            </a:r>
            <a:r>
              <a:rPr lang="en-US" altLang="ko-KR" sz="600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m/s</a:t>
            </a:r>
          </a:p>
          <a:p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&lt;Calculation Data&gt;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USER            : Temporary User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SERIAL NO       : 20170001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CALCULATED TIME : 2017-06-13 </a:t>
            </a:r>
            <a:r>
              <a:rPr lang="ko-KR" altLang="en-US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오후 </a:t>
            </a:r>
            <a:r>
              <a:rPr lang="en-US" altLang="ko-KR" sz="600" dirty="0">
                <a:latin typeface="굴림체" panose="020B0609000101010101" pitchFamily="49" charset="-127"/>
                <a:ea typeface="굴림체" panose="020B0609000101010101" pitchFamily="49" charset="-127"/>
              </a:rPr>
              <a:t>2:14:19</a:t>
            </a:r>
            <a:endParaRPr lang="ko-KR" altLang="en-US" sz="600" dirty="0"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4427984" y="1119188"/>
            <a:ext cx="0" cy="52668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텍스트 개체 틀 3"/>
          <p:cNvSpPr txBox="1">
            <a:spLocks/>
          </p:cNvSpPr>
          <p:nvPr/>
        </p:nvSpPr>
        <p:spPr>
          <a:xfrm>
            <a:off x="539552" y="1124744"/>
            <a:ext cx="5256832" cy="36548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□ 환경설비 </a:t>
            </a:r>
            <a:r>
              <a:rPr lang="ko-KR" altLang="en-US" dirty="0" err="1" smtClean="0"/>
              <a:t>열정산</a:t>
            </a:r>
            <a:r>
              <a:rPr lang="ko-KR" altLang="en-US" dirty="0" smtClean="0"/>
              <a:t> 결과 </a:t>
            </a:r>
            <a:r>
              <a:rPr lang="en-US" altLang="ko-KR" dirty="0" smtClean="0"/>
              <a:t>(4/4)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8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/>
              <a:t>프로그램 주요기능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2010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1224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oposal Ta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/>
      <a:lstStyle>
        <a:defPPr>
          <a:defRPr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Index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ubjec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본문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hank you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2314</TotalTime>
  <Words>751</Words>
  <Application>Microsoft Office PowerPoint</Application>
  <PresentationFormat>화면 슬라이드 쇼(4:3)</PresentationFormat>
  <Paragraphs>597</Paragraphs>
  <Slides>24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5</vt:i4>
      </vt:variant>
      <vt:variant>
        <vt:lpstr>슬라이드 제목</vt:lpstr>
      </vt:variant>
      <vt:variant>
        <vt:i4>24</vt:i4>
      </vt:variant>
    </vt:vector>
  </HeadingPairs>
  <TitlesOfParts>
    <vt:vector size="34" baseType="lpstr">
      <vt:lpstr>HY견고딕</vt:lpstr>
      <vt:lpstr>HY울릉도M</vt:lpstr>
      <vt:lpstr>굴림체</vt:lpstr>
      <vt:lpstr>맑은 고딕</vt:lpstr>
      <vt:lpstr>Arial</vt:lpstr>
      <vt:lpstr>Proposal Tatle</vt:lpstr>
      <vt:lpstr>Index</vt:lpstr>
      <vt:lpstr>Subject</vt:lpstr>
      <vt:lpstr>본문</vt:lpstr>
      <vt:lpstr>Thank you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Mosuk Lee</dc:creator>
  <cp:lastModifiedBy>Mosuk Lee</cp:lastModifiedBy>
  <cp:revision>135</cp:revision>
  <cp:lastPrinted>2017-06-13T05:32:17Z</cp:lastPrinted>
  <dcterms:created xsi:type="dcterms:W3CDTF">2016-03-04T17:43:51Z</dcterms:created>
  <dcterms:modified xsi:type="dcterms:W3CDTF">2017-06-13T05:40:55Z</dcterms:modified>
</cp:coreProperties>
</file>